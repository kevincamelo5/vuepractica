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agz" charset="1" panose="02000503000000000000"/>
      <p:regular r:id="rId21"/>
    </p:embeddedFont>
    <p:embeddedFont>
      <p:font typeface="Agrandir" charset="1" panose="00000500000000000000"/>
      <p:regular r:id="rId22"/>
    </p:embeddedFont>
    <p:embeddedFont>
      <p:font typeface="Agrandir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2.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4.jpeg" Type="http://schemas.openxmlformats.org/officeDocument/2006/relationships/image"/><Relationship Id="rId8" Target="../media/image2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6.jpeg" Type="http://schemas.openxmlformats.org/officeDocument/2006/relationships/image"/><Relationship Id="rId8" Target="../media/image2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2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3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1111" r="0" b="-21111"/>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815241" y="8285179"/>
            <a:ext cx="4657518" cy="649794"/>
            <a:chOff x="0" y="0"/>
            <a:chExt cx="1226671" cy="171139"/>
          </a:xfrm>
        </p:grpSpPr>
        <p:sp>
          <p:nvSpPr>
            <p:cNvPr name="Freeform 5" id="5"/>
            <p:cNvSpPr/>
            <p:nvPr/>
          </p:nvSpPr>
          <p:spPr>
            <a:xfrm flipH="false" flipV="false" rot="0">
              <a:off x="0" y="0"/>
              <a:ext cx="1226671" cy="171139"/>
            </a:xfrm>
            <a:custGeom>
              <a:avLst/>
              <a:gdLst/>
              <a:ahLst/>
              <a:cxnLst/>
              <a:rect r="r" b="b" t="t" l="l"/>
              <a:pathLst>
                <a:path h="171139" w="1226671">
                  <a:moveTo>
                    <a:pt x="0" y="0"/>
                  </a:moveTo>
                  <a:lnTo>
                    <a:pt x="1226671" y="0"/>
                  </a:lnTo>
                  <a:lnTo>
                    <a:pt x="1226671" y="171139"/>
                  </a:lnTo>
                  <a:lnTo>
                    <a:pt x="0" y="171139"/>
                  </a:lnTo>
                  <a:close/>
                </a:path>
              </a:pathLst>
            </a:custGeom>
            <a:solidFill>
              <a:srgbClr val="5CE1E6"/>
            </a:solidFill>
          </p:spPr>
        </p:sp>
        <p:sp>
          <p:nvSpPr>
            <p:cNvPr name="TextBox 6" id="6"/>
            <p:cNvSpPr txBox="true"/>
            <p:nvPr/>
          </p:nvSpPr>
          <p:spPr>
            <a:xfrm>
              <a:off x="0" y="-85725"/>
              <a:ext cx="1226671" cy="256864"/>
            </a:xfrm>
            <a:prstGeom prst="rect">
              <a:avLst/>
            </a:prstGeom>
          </p:spPr>
          <p:txBody>
            <a:bodyPr anchor="ctr" rtlCol="false" tIns="50800" lIns="50800" bIns="50800" rIns="50800"/>
            <a:lstStyle/>
            <a:p>
              <a:pPr algn="ctr">
                <a:lnSpc>
                  <a:spcPts val="2239"/>
                </a:lnSpc>
              </a:pPr>
            </a:p>
          </p:txBody>
        </p:sp>
      </p:grpSp>
      <p:sp>
        <p:nvSpPr>
          <p:cNvPr name="Freeform 7" id="7"/>
          <p:cNvSpPr/>
          <p:nvPr/>
        </p:nvSpPr>
        <p:spPr>
          <a:xfrm flipH="false" flipV="false" rot="0">
            <a:off x="14409164" y="5283179"/>
            <a:ext cx="3650950" cy="4114800"/>
          </a:xfrm>
          <a:custGeom>
            <a:avLst/>
            <a:gdLst/>
            <a:ahLst/>
            <a:cxnLst/>
            <a:rect r="r" b="b" t="t" l="l"/>
            <a:pathLst>
              <a:path h="4114800" w="3650950">
                <a:moveTo>
                  <a:pt x="0" y="0"/>
                </a:moveTo>
                <a:lnTo>
                  <a:pt x="3650950" y="0"/>
                </a:lnTo>
                <a:lnTo>
                  <a:pt x="365095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371050" y="5300872"/>
            <a:ext cx="7770314" cy="4079415"/>
          </a:xfrm>
          <a:custGeom>
            <a:avLst/>
            <a:gdLst/>
            <a:ahLst/>
            <a:cxnLst/>
            <a:rect r="r" b="b" t="t" l="l"/>
            <a:pathLst>
              <a:path h="4079415" w="7770314">
                <a:moveTo>
                  <a:pt x="0" y="0"/>
                </a:moveTo>
                <a:lnTo>
                  <a:pt x="7770314" y="0"/>
                </a:lnTo>
                <a:lnTo>
                  <a:pt x="7770314" y="4079415"/>
                </a:lnTo>
                <a:lnTo>
                  <a:pt x="0" y="4079415"/>
                </a:lnTo>
                <a:lnTo>
                  <a:pt x="0" y="0"/>
                </a:lnTo>
                <a:close/>
              </a:path>
            </a:pathLst>
          </a:custGeom>
          <a:blipFill>
            <a:blip r:embed="rId7"/>
            <a:stretch>
              <a:fillRect l="0" t="0" r="0" b="0"/>
            </a:stretch>
          </a:blipFill>
        </p:spPr>
      </p:sp>
      <p:sp>
        <p:nvSpPr>
          <p:cNvPr name="TextBox 9" id="9"/>
          <p:cNvSpPr txBox="true"/>
          <p:nvPr/>
        </p:nvSpPr>
        <p:spPr>
          <a:xfrm rot="0">
            <a:off x="2297355" y="2954828"/>
            <a:ext cx="13693291" cy="2872039"/>
          </a:xfrm>
          <a:prstGeom prst="rect">
            <a:avLst/>
          </a:prstGeom>
        </p:spPr>
        <p:txBody>
          <a:bodyPr anchor="t" rtlCol="false" tIns="0" lIns="0" bIns="0" rIns="0">
            <a:spAutoFit/>
          </a:bodyPr>
          <a:lstStyle/>
          <a:p>
            <a:pPr algn="ctr">
              <a:lnSpc>
                <a:spcPts val="22298"/>
              </a:lnSpc>
              <a:spcBef>
                <a:spcPct val="0"/>
              </a:spcBef>
            </a:pPr>
            <a:r>
              <a:rPr lang="en-US" sz="15927">
                <a:solidFill>
                  <a:srgbClr val="FFFFFF"/>
                </a:solidFill>
                <a:latin typeface="Magz"/>
                <a:ea typeface="Magz"/>
                <a:cs typeface="Magz"/>
                <a:sym typeface="Magz"/>
              </a:rPr>
              <a:t>VUE.JS</a:t>
            </a:r>
          </a:p>
        </p:txBody>
      </p:sp>
      <p:sp>
        <p:nvSpPr>
          <p:cNvPr name="TextBox 10" id="10"/>
          <p:cNvSpPr txBox="true"/>
          <p:nvPr/>
        </p:nvSpPr>
        <p:spPr>
          <a:xfrm rot="0">
            <a:off x="3724451" y="6004836"/>
            <a:ext cx="10338913" cy="321878"/>
          </a:xfrm>
          <a:prstGeom prst="rect">
            <a:avLst/>
          </a:prstGeom>
        </p:spPr>
        <p:txBody>
          <a:bodyPr anchor="t" rtlCol="false" tIns="0" lIns="0" bIns="0" rIns="0">
            <a:spAutoFit/>
          </a:bodyPr>
          <a:lstStyle/>
          <a:p>
            <a:pPr algn="ctr">
              <a:lnSpc>
                <a:spcPts val="2211"/>
              </a:lnSpc>
              <a:spcBef>
                <a:spcPct val="0"/>
              </a:spcBef>
            </a:pPr>
            <a:r>
              <a:rPr lang="en-US" sz="1579">
                <a:solidFill>
                  <a:srgbClr val="FFFFFF"/>
                </a:solidFill>
                <a:latin typeface="Agrandir"/>
                <a:ea typeface="Agrandir"/>
                <a:cs typeface="Agrandir"/>
                <a:sym typeface="Agrandir"/>
              </a:rPr>
              <a:t>Framework de JavaScript</a:t>
            </a:r>
          </a:p>
        </p:txBody>
      </p:sp>
      <p:sp>
        <p:nvSpPr>
          <p:cNvPr name="TextBox 11" id="11"/>
          <p:cNvSpPr txBox="true"/>
          <p:nvPr/>
        </p:nvSpPr>
        <p:spPr>
          <a:xfrm rot="0">
            <a:off x="6788372" y="8354488"/>
            <a:ext cx="4711257" cy="40634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Agrandir"/>
                <a:ea typeface="Agrandir"/>
                <a:cs typeface="Agrandir"/>
                <a:sym typeface="Agrandir"/>
              </a:rPr>
              <a:t>EQUIPO</a:t>
            </a:r>
          </a:p>
        </p:txBody>
      </p:sp>
      <p:sp>
        <p:nvSpPr>
          <p:cNvPr name="TextBox 12" id="12"/>
          <p:cNvSpPr txBox="true"/>
          <p:nvPr/>
        </p:nvSpPr>
        <p:spPr>
          <a:xfrm rot="0">
            <a:off x="14327317"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Estructura</a:t>
            </a:r>
          </a:p>
        </p:txBody>
      </p:sp>
      <p:sp>
        <p:nvSpPr>
          <p:cNvPr name="TextBox 13" id="13"/>
          <p:cNvSpPr txBox="true"/>
          <p:nvPr/>
        </p:nvSpPr>
        <p:spPr>
          <a:xfrm rot="0">
            <a:off x="16234639"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y más.</a:t>
            </a:r>
          </a:p>
        </p:txBody>
      </p:sp>
      <p:sp>
        <p:nvSpPr>
          <p:cNvPr name="TextBox 14" id="14"/>
          <p:cNvSpPr txBox="true"/>
          <p:nvPr/>
        </p:nvSpPr>
        <p:spPr>
          <a:xfrm rot="0">
            <a:off x="111269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Historia</a:t>
            </a:r>
          </a:p>
        </p:txBody>
      </p:sp>
      <p:sp>
        <p:nvSpPr>
          <p:cNvPr name="TextBox 15" id="15"/>
          <p:cNvSpPr txBox="true"/>
          <p:nvPr/>
        </p:nvSpPr>
        <p:spPr>
          <a:xfrm rot="0">
            <a:off x="12211549" y="788616"/>
            <a:ext cx="1506460"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Características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730094" y="2833484"/>
            <a:ext cx="3171318" cy="6424816"/>
            <a:chOff x="0" y="0"/>
            <a:chExt cx="835244" cy="1692132"/>
          </a:xfrm>
        </p:grpSpPr>
        <p:sp>
          <p:nvSpPr>
            <p:cNvPr name="Freeform 5" id="5"/>
            <p:cNvSpPr/>
            <p:nvPr/>
          </p:nvSpPr>
          <p:spPr>
            <a:xfrm flipH="false" flipV="false" rot="0">
              <a:off x="0" y="0"/>
              <a:ext cx="835244" cy="1692133"/>
            </a:xfrm>
            <a:custGeom>
              <a:avLst/>
              <a:gdLst/>
              <a:ahLst/>
              <a:cxnLst/>
              <a:rect r="r" b="b" t="t" l="l"/>
              <a:pathLst>
                <a:path h="1692133" w="835244">
                  <a:moveTo>
                    <a:pt x="0" y="0"/>
                  </a:moveTo>
                  <a:lnTo>
                    <a:pt x="835244" y="0"/>
                  </a:lnTo>
                  <a:lnTo>
                    <a:pt x="835244" y="1692133"/>
                  </a:lnTo>
                  <a:lnTo>
                    <a:pt x="0" y="1692133"/>
                  </a:lnTo>
                  <a:close/>
                </a:path>
              </a:pathLst>
            </a:custGeom>
            <a:solidFill>
              <a:srgbClr val="5CE1E6"/>
            </a:solidFill>
          </p:spPr>
        </p:sp>
        <p:sp>
          <p:nvSpPr>
            <p:cNvPr name="TextBox 6" id="6"/>
            <p:cNvSpPr txBox="true"/>
            <p:nvPr/>
          </p:nvSpPr>
          <p:spPr>
            <a:xfrm>
              <a:off x="0" y="-85725"/>
              <a:ext cx="835244" cy="1777857"/>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8880731" y="3958507"/>
            <a:ext cx="9098886" cy="3659883"/>
            <a:chOff x="0" y="0"/>
            <a:chExt cx="2431716" cy="978119"/>
          </a:xfrm>
        </p:grpSpPr>
        <p:sp>
          <p:nvSpPr>
            <p:cNvPr name="Freeform 8" id="8"/>
            <p:cNvSpPr/>
            <p:nvPr/>
          </p:nvSpPr>
          <p:spPr>
            <a:xfrm flipH="false" flipV="false" rot="0">
              <a:off x="0" y="0"/>
              <a:ext cx="2431716" cy="978119"/>
            </a:xfrm>
            <a:custGeom>
              <a:avLst/>
              <a:gdLst/>
              <a:ahLst/>
              <a:cxnLst/>
              <a:rect r="r" b="b" t="t" l="l"/>
              <a:pathLst>
                <a:path h="978119" w="2431716">
                  <a:moveTo>
                    <a:pt x="0" y="0"/>
                  </a:moveTo>
                  <a:lnTo>
                    <a:pt x="2431716" y="0"/>
                  </a:lnTo>
                  <a:lnTo>
                    <a:pt x="2431716" y="978119"/>
                  </a:lnTo>
                  <a:lnTo>
                    <a:pt x="0" y="978119"/>
                  </a:lnTo>
                  <a:close/>
                </a:path>
              </a:pathLst>
            </a:custGeom>
            <a:blipFill>
              <a:blip r:embed="rId5"/>
              <a:stretch>
                <a:fillRect l="0" t="-1586" r="0" b="-1586"/>
              </a:stretch>
            </a:blipFill>
            <a:ln cap="sq">
              <a:noFill/>
              <a:prstDash val="solid"/>
              <a:miter/>
            </a:ln>
          </p:spPr>
        </p:sp>
      </p:grpSp>
      <p:sp>
        <p:nvSpPr>
          <p:cNvPr name="Freeform 9" id="9"/>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23407" y="2602235"/>
            <a:ext cx="7335703" cy="2019133"/>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ACERCA DE VUE:JS</a:t>
            </a:r>
          </a:p>
        </p:txBody>
      </p:sp>
      <p:sp>
        <p:nvSpPr>
          <p:cNvPr name="TextBox 11" id="11"/>
          <p:cNvSpPr txBox="true"/>
          <p:nvPr/>
        </p:nvSpPr>
        <p:spPr>
          <a:xfrm rot="0">
            <a:off x="1023407" y="4850389"/>
            <a:ext cx="5779490" cy="2554605"/>
          </a:xfrm>
          <a:prstGeom prst="rect">
            <a:avLst/>
          </a:prstGeom>
        </p:spPr>
        <p:txBody>
          <a:bodyPr anchor="t" rtlCol="false" tIns="0" lIns="0" bIns="0" rIns="0">
            <a:spAutoFit/>
          </a:bodyPr>
          <a:lstStyle/>
          <a:p>
            <a:pPr algn="just">
              <a:lnSpc>
                <a:spcPts val="2520"/>
              </a:lnSpc>
            </a:pPr>
            <a:r>
              <a:rPr lang="en-US" sz="1800">
                <a:solidFill>
                  <a:srgbClr val="FFFFFF"/>
                </a:solidFill>
                <a:latin typeface="Agrandir"/>
                <a:ea typeface="Agrandir"/>
                <a:cs typeface="Agrandir"/>
                <a:sym typeface="Agrandir"/>
              </a:rPr>
              <a:t>Vue.js es una librería/framework declarativo de JavaScript, enfocado al desarrollo de interfases de usuario (frontend) centralizado en el modelo MVC.</a:t>
            </a:r>
          </a:p>
          <a:p>
            <a:pPr algn="just">
              <a:lnSpc>
                <a:spcPts val="2520"/>
              </a:lnSpc>
            </a:pPr>
          </a:p>
          <a:p>
            <a:pPr algn="just">
              <a:lnSpc>
                <a:spcPts val="2520"/>
              </a:lnSpc>
              <a:spcBef>
                <a:spcPct val="0"/>
              </a:spcBef>
            </a:pPr>
            <a:r>
              <a:rPr lang="en-US" sz="1800">
                <a:solidFill>
                  <a:srgbClr val="FFFFFF"/>
                </a:solidFill>
                <a:latin typeface="Agrandir"/>
                <a:ea typeface="Agrandir"/>
                <a:cs typeface="Agrandir"/>
                <a:sym typeface="Agrandir"/>
              </a:rPr>
              <a:t>Surgió aproximadamente cerca de febrero del 2014, por parte de Evan Yout, a consecuencia de haber trabajado con Angular JS, buscando extraer lo mejor de angular en forma ligera.</a:t>
            </a:r>
          </a:p>
        </p:txBody>
      </p:sp>
      <p:sp>
        <p:nvSpPr>
          <p:cNvPr name="TextBox 12" id="12"/>
          <p:cNvSpPr txBox="true"/>
          <p:nvPr/>
        </p:nvSpPr>
        <p:spPr>
          <a:xfrm rot="0">
            <a:off x="14327317"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Estructura</a:t>
            </a:r>
          </a:p>
        </p:txBody>
      </p:sp>
      <p:sp>
        <p:nvSpPr>
          <p:cNvPr name="TextBox 13" id="13"/>
          <p:cNvSpPr txBox="true"/>
          <p:nvPr/>
        </p:nvSpPr>
        <p:spPr>
          <a:xfrm rot="0">
            <a:off x="16234639"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y más.</a:t>
            </a:r>
          </a:p>
        </p:txBody>
      </p:sp>
      <p:sp>
        <p:nvSpPr>
          <p:cNvPr name="TextBox 14" id="14"/>
          <p:cNvSpPr txBox="true"/>
          <p:nvPr/>
        </p:nvSpPr>
        <p:spPr>
          <a:xfrm rot="0">
            <a:off x="111269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Historia</a:t>
            </a:r>
          </a:p>
        </p:txBody>
      </p:sp>
      <p:sp>
        <p:nvSpPr>
          <p:cNvPr name="TextBox 15" id="15"/>
          <p:cNvSpPr txBox="true"/>
          <p:nvPr/>
        </p:nvSpPr>
        <p:spPr>
          <a:xfrm rot="0">
            <a:off x="12211549" y="788616"/>
            <a:ext cx="1506460"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Características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0" y="8622000"/>
            <a:ext cx="3171318" cy="1160145"/>
            <a:chOff x="0" y="0"/>
            <a:chExt cx="835244" cy="305553"/>
          </a:xfrm>
        </p:grpSpPr>
        <p:sp>
          <p:nvSpPr>
            <p:cNvPr name="Freeform 6" id="6"/>
            <p:cNvSpPr/>
            <p:nvPr/>
          </p:nvSpPr>
          <p:spPr>
            <a:xfrm flipH="false" flipV="false" rot="0">
              <a:off x="0" y="0"/>
              <a:ext cx="835244" cy="305553"/>
            </a:xfrm>
            <a:custGeom>
              <a:avLst/>
              <a:gdLst/>
              <a:ahLst/>
              <a:cxnLst/>
              <a:rect r="r" b="b" t="t" l="l"/>
              <a:pathLst>
                <a:path h="305553" w="835244">
                  <a:moveTo>
                    <a:pt x="0" y="0"/>
                  </a:moveTo>
                  <a:lnTo>
                    <a:pt x="835244" y="0"/>
                  </a:lnTo>
                  <a:lnTo>
                    <a:pt x="835244" y="305553"/>
                  </a:lnTo>
                  <a:lnTo>
                    <a:pt x="0" y="305553"/>
                  </a:lnTo>
                  <a:close/>
                </a:path>
              </a:pathLst>
            </a:custGeom>
            <a:solidFill>
              <a:srgbClr val="5CE1E6"/>
            </a:solidFill>
          </p:spPr>
        </p:sp>
        <p:sp>
          <p:nvSpPr>
            <p:cNvPr name="TextBox 7" id="7"/>
            <p:cNvSpPr txBox="true"/>
            <p:nvPr/>
          </p:nvSpPr>
          <p:spPr>
            <a:xfrm>
              <a:off x="0" y="-85725"/>
              <a:ext cx="835244" cy="391278"/>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0" y="2241901"/>
            <a:ext cx="5131137" cy="7016399"/>
            <a:chOff x="0" y="0"/>
            <a:chExt cx="794947" cy="1087024"/>
          </a:xfrm>
        </p:grpSpPr>
        <p:sp>
          <p:nvSpPr>
            <p:cNvPr name="Freeform 9" id="9"/>
            <p:cNvSpPr/>
            <p:nvPr/>
          </p:nvSpPr>
          <p:spPr>
            <a:xfrm flipH="false" flipV="false" rot="0">
              <a:off x="0" y="0"/>
              <a:ext cx="794947" cy="1087024"/>
            </a:xfrm>
            <a:custGeom>
              <a:avLst/>
              <a:gdLst/>
              <a:ahLst/>
              <a:cxnLst/>
              <a:rect r="r" b="b" t="t" l="l"/>
              <a:pathLst>
                <a:path h="1087024" w="794947">
                  <a:moveTo>
                    <a:pt x="0" y="0"/>
                  </a:moveTo>
                  <a:lnTo>
                    <a:pt x="794947" y="0"/>
                  </a:lnTo>
                  <a:lnTo>
                    <a:pt x="794947" y="1087024"/>
                  </a:lnTo>
                  <a:lnTo>
                    <a:pt x="0" y="1087024"/>
                  </a:lnTo>
                  <a:close/>
                </a:path>
              </a:pathLst>
            </a:custGeom>
            <a:blipFill>
              <a:blip r:embed="rId7"/>
              <a:stretch>
                <a:fillRect l="-52620" t="0" r="-52620" b="0"/>
              </a:stretch>
            </a:blipFill>
            <a:ln cap="sq">
              <a:noFill/>
              <a:prstDash val="solid"/>
              <a:miter/>
            </a:ln>
          </p:spPr>
        </p:sp>
      </p:grpSp>
      <p:sp>
        <p:nvSpPr>
          <p:cNvPr name="TextBox 10" id="10"/>
          <p:cNvSpPr txBox="true"/>
          <p:nvPr/>
        </p:nvSpPr>
        <p:spPr>
          <a:xfrm rot="0">
            <a:off x="6381506" y="1885190"/>
            <a:ext cx="10413620" cy="1066692"/>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CARACTERISTICAS</a:t>
            </a:r>
          </a:p>
        </p:txBody>
      </p:sp>
      <p:sp>
        <p:nvSpPr>
          <p:cNvPr name="TextBox 11" id="11"/>
          <p:cNvSpPr txBox="true"/>
          <p:nvPr/>
        </p:nvSpPr>
        <p:spPr>
          <a:xfrm rot="0">
            <a:off x="5131137" y="3403582"/>
            <a:ext cx="12543834" cy="5853706"/>
          </a:xfrm>
          <a:prstGeom prst="rect">
            <a:avLst/>
          </a:prstGeom>
        </p:spPr>
        <p:txBody>
          <a:bodyPr anchor="t" rtlCol="false" tIns="0" lIns="0" bIns="0" rIns="0">
            <a:spAutoFit/>
          </a:bodyPr>
          <a:lstStyle/>
          <a:p>
            <a:pPr algn="just" marL="441783" indent="-220892" lvl="1">
              <a:lnSpc>
                <a:spcPts val="2864"/>
              </a:lnSpc>
              <a:buAutoNum type="arabicPeriod" startAt="1"/>
            </a:pPr>
            <a:r>
              <a:rPr lang="en-US" b="true" sz="2046">
                <a:solidFill>
                  <a:srgbClr val="FFFFFF"/>
                </a:solidFill>
                <a:latin typeface="Agrandir Bold"/>
                <a:ea typeface="Agrandir Bold"/>
                <a:cs typeface="Agrandir Bold"/>
                <a:sym typeface="Agrandir Bold"/>
              </a:rPr>
              <a:t>R</a:t>
            </a:r>
            <a:r>
              <a:rPr lang="en-US" b="true" sz="2046">
                <a:solidFill>
                  <a:srgbClr val="FFFFFF"/>
                </a:solidFill>
                <a:latin typeface="Agrandir Bold"/>
                <a:ea typeface="Agrandir Bold"/>
                <a:cs typeface="Agrandir Bold"/>
                <a:sym typeface="Agrandir Bold"/>
              </a:rPr>
              <a:t>eactividad:</a:t>
            </a:r>
            <a:r>
              <a:rPr lang="en-US" sz="2046">
                <a:solidFill>
                  <a:srgbClr val="FFFFFF"/>
                </a:solidFill>
                <a:latin typeface="Agrandir"/>
                <a:ea typeface="Agrandir"/>
                <a:cs typeface="Agrandir"/>
                <a:sym typeface="Agrandir"/>
              </a:rPr>
              <a:t> Vue.js permite que los datos y la interfaz de usuario estén sincronizados automáticamente. Cuando cambias los datos, la interfaz se actualiza automáticamente.</a:t>
            </a:r>
          </a:p>
          <a:p>
            <a:pPr algn="just" marL="441783" indent="-220892" lvl="1">
              <a:lnSpc>
                <a:spcPts val="2864"/>
              </a:lnSpc>
              <a:buAutoNum type="arabicPeriod" startAt="1"/>
            </a:pPr>
            <a:r>
              <a:rPr lang="en-US" b="true" sz="2046">
                <a:solidFill>
                  <a:srgbClr val="FFFFFF"/>
                </a:solidFill>
                <a:latin typeface="Agrandir Bold"/>
                <a:ea typeface="Agrandir Bold"/>
                <a:cs typeface="Agrandir Bold"/>
                <a:sym typeface="Agrandir Bold"/>
              </a:rPr>
              <a:t>Componentes:</a:t>
            </a:r>
            <a:r>
              <a:rPr lang="en-US" sz="2046">
                <a:solidFill>
                  <a:srgbClr val="FFFFFF"/>
                </a:solidFill>
                <a:latin typeface="Agrandir"/>
                <a:ea typeface="Agrandir"/>
                <a:cs typeface="Agrandir"/>
                <a:sym typeface="Agrandir"/>
              </a:rPr>
              <a:t> Vue.js utiliza componentes, que son bloques reutilizables de código que representan partes de la interfaz de usuario. Esto hace que el desarrollo sea más modular y organizado.</a:t>
            </a:r>
          </a:p>
          <a:p>
            <a:pPr algn="just" marL="441783" indent="-220892" lvl="1">
              <a:lnSpc>
                <a:spcPts val="2864"/>
              </a:lnSpc>
              <a:buAutoNum type="arabicPeriod" startAt="1"/>
            </a:pPr>
            <a:r>
              <a:rPr lang="en-US" b="true" sz="2046">
                <a:solidFill>
                  <a:srgbClr val="FFFFFF"/>
                </a:solidFill>
                <a:latin typeface="Agrandir Bold"/>
                <a:ea typeface="Agrandir Bold"/>
                <a:cs typeface="Agrandir Bold"/>
                <a:sym typeface="Agrandir Bold"/>
              </a:rPr>
              <a:t>Directivas:</a:t>
            </a:r>
            <a:r>
              <a:rPr lang="en-US" sz="2046">
                <a:solidFill>
                  <a:srgbClr val="FFFFFF"/>
                </a:solidFill>
                <a:latin typeface="Agrandir"/>
                <a:ea typeface="Agrandir"/>
                <a:cs typeface="Agrandir"/>
                <a:sym typeface="Agrandir"/>
              </a:rPr>
              <a:t> Son atributos especiales en el HTML que permiten enlazar datos y manipular el DOM de manera declarativa. Ejemplos comunes son v-bind para enlazar atributos y v-for para iterar sobre listas.</a:t>
            </a:r>
          </a:p>
          <a:p>
            <a:pPr algn="just" marL="441783" indent="-220892" lvl="1">
              <a:lnSpc>
                <a:spcPts val="2864"/>
              </a:lnSpc>
              <a:buAutoNum type="arabicPeriod" startAt="1"/>
            </a:pPr>
            <a:r>
              <a:rPr lang="en-US" b="true" sz="2046">
                <a:solidFill>
                  <a:srgbClr val="FFFFFF"/>
                </a:solidFill>
                <a:latin typeface="Agrandir Bold"/>
                <a:ea typeface="Agrandir Bold"/>
                <a:cs typeface="Agrandir Bold"/>
                <a:sym typeface="Agrandir Bold"/>
              </a:rPr>
              <a:t>Enlace de datos bidireccional</a:t>
            </a:r>
            <a:r>
              <a:rPr lang="en-US" sz="2046">
                <a:solidFill>
                  <a:srgbClr val="FFFFFF"/>
                </a:solidFill>
                <a:latin typeface="Agrandir"/>
                <a:ea typeface="Agrandir"/>
                <a:cs typeface="Agrandir"/>
                <a:sym typeface="Agrandir"/>
              </a:rPr>
              <a:t>: Con Vue.js, puedes enlazar datos en ambas direcciones entre el modelo y la vista, lo que facilita la gestión de formularios y entradas de usuario.</a:t>
            </a:r>
          </a:p>
          <a:p>
            <a:pPr algn="just" marL="441783" indent="-220892" lvl="1">
              <a:lnSpc>
                <a:spcPts val="2864"/>
              </a:lnSpc>
              <a:buAutoNum type="arabicPeriod" startAt="1"/>
            </a:pPr>
            <a:r>
              <a:rPr lang="en-US" b="true" sz="2046">
                <a:solidFill>
                  <a:srgbClr val="FFFFFF"/>
                </a:solidFill>
                <a:latin typeface="Agrandir Bold"/>
                <a:ea typeface="Agrandir Bold"/>
                <a:cs typeface="Agrandir Bold"/>
                <a:sym typeface="Agrandir Bold"/>
              </a:rPr>
              <a:t>Transiciones y animaciones:</a:t>
            </a:r>
            <a:r>
              <a:rPr lang="en-US" sz="2046">
                <a:solidFill>
                  <a:srgbClr val="FFFFFF"/>
                </a:solidFill>
                <a:latin typeface="Agrandir"/>
                <a:ea typeface="Agrandir"/>
                <a:cs typeface="Agrandir"/>
                <a:sym typeface="Agrandir"/>
              </a:rPr>
              <a:t> Vue.js tiene soporte integrado para transiciones y animaciones, lo que permite agregar efectos visuales a los cambios en la interfaz de usuario de manera sencilla.</a:t>
            </a:r>
          </a:p>
          <a:p>
            <a:pPr algn="just" marL="441783" indent="-220892" lvl="1">
              <a:lnSpc>
                <a:spcPts val="2864"/>
              </a:lnSpc>
              <a:buAutoNum type="arabicPeriod" startAt="1"/>
            </a:pPr>
            <a:r>
              <a:rPr lang="en-US" b="true" sz="2046">
                <a:solidFill>
                  <a:srgbClr val="FFFFFF"/>
                </a:solidFill>
                <a:latin typeface="Agrandir Bold"/>
                <a:ea typeface="Agrandir Bold"/>
                <a:cs typeface="Agrandir Bold"/>
                <a:sym typeface="Agrandir Bold"/>
              </a:rPr>
              <a:t>Ecosistema:</a:t>
            </a:r>
            <a:r>
              <a:rPr lang="en-US" sz="2046">
                <a:solidFill>
                  <a:srgbClr val="FFFFFF"/>
                </a:solidFill>
                <a:latin typeface="Agrandir"/>
                <a:ea typeface="Agrandir"/>
                <a:cs typeface="Agrandir"/>
                <a:sym typeface="Agrandir"/>
              </a:rPr>
              <a:t> Vue.js tiene un ecosistema rico con herramientas como Vue CLI para configurar proyectos rápidamente, Vue Router para gestionar rutas y Vuex para manejar el estado de la aplicación.</a:t>
            </a:r>
          </a:p>
          <a:p>
            <a:pPr algn="just">
              <a:lnSpc>
                <a:spcPts val="2864"/>
              </a:lnSpc>
              <a:spcBef>
                <a:spcPct val="0"/>
              </a:spcBef>
            </a:pPr>
          </a:p>
        </p:txBody>
      </p:sp>
      <p:sp>
        <p:nvSpPr>
          <p:cNvPr name="TextBox 12" id="12"/>
          <p:cNvSpPr txBox="true"/>
          <p:nvPr/>
        </p:nvSpPr>
        <p:spPr>
          <a:xfrm rot="0">
            <a:off x="14327317"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Estructura</a:t>
            </a:r>
          </a:p>
        </p:txBody>
      </p:sp>
      <p:sp>
        <p:nvSpPr>
          <p:cNvPr name="TextBox 13" id="13"/>
          <p:cNvSpPr txBox="true"/>
          <p:nvPr/>
        </p:nvSpPr>
        <p:spPr>
          <a:xfrm rot="0">
            <a:off x="16234639"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y más.</a:t>
            </a:r>
          </a:p>
        </p:txBody>
      </p:sp>
      <p:sp>
        <p:nvSpPr>
          <p:cNvPr name="TextBox 14" id="14"/>
          <p:cNvSpPr txBox="true"/>
          <p:nvPr/>
        </p:nvSpPr>
        <p:spPr>
          <a:xfrm rot="0">
            <a:off x="111269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Historia</a:t>
            </a:r>
          </a:p>
        </p:txBody>
      </p:sp>
      <p:sp>
        <p:nvSpPr>
          <p:cNvPr name="TextBox 15" id="15"/>
          <p:cNvSpPr txBox="true"/>
          <p:nvPr/>
        </p:nvSpPr>
        <p:spPr>
          <a:xfrm rot="0">
            <a:off x="12211549" y="788616"/>
            <a:ext cx="1506460"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Características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8261393" y="1832168"/>
            <a:ext cx="3640020" cy="2107739"/>
            <a:chOff x="0" y="0"/>
            <a:chExt cx="958688" cy="555125"/>
          </a:xfrm>
        </p:grpSpPr>
        <p:sp>
          <p:nvSpPr>
            <p:cNvPr name="Freeform 6" id="6"/>
            <p:cNvSpPr/>
            <p:nvPr/>
          </p:nvSpPr>
          <p:spPr>
            <a:xfrm flipH="false" flipV="false" rot="0">
              <a:off x="0" y="0"/>
              <a:ext cx="958688" cy="555125"/>
            </a:xfrm>
            <a:custGeom>
              <a:avLst/>
              <a:gdLst/>
              <a:ahLst/>
              <a:cxnLst/>
              <a:rect r="r" b="b" t="t" l="l"/>
              <a:pathLst>
                <a:path h="555125" w="958688">
                  <a:moveTo>
                    <a:pt x="0" y="0"/>
                  </a:moveTo>
                  <a:lnTo>
                    <a:pt x="958688" y="0"/>
                  </a:lnTo>
                  <a:lnTo>
                    <a:pt x="958688" y="555125"/>
                  </a:lnTo>
                  <a:lnTo>
                    <a:pt x="0" y="555125"/>
                  </a:lnTo>
                  <a:close/>
                </a:path>
              </a:pathLst>
            </a:custGeom>
            <a:solidFill>
              <a:srgbClr val="5CE1E6"/>
            </a:solidFill>
          </p:spPr>
        </p:sp>
        <p:sp>
          <p:nvSpPr>
            <p:cNvPr name="TextBox 7" id="7"/>
            <p:cNvSpPr txBox="true"/>
            <p:nvPr/>
          </p:nvSpPr>
          <p:spPr>
            <a:xfrm>
              <a:off x="0" y="-85725"/>
              <a:ext cx="958688" cy="640850"/>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8743329" y="2241901"/>
            <a:ext cx="7637161" cy="3396013"/>
            <a:chOff x="0" y="0"/>
            <a:chExt cx="1841679" cy="818938"/>
          </a:xfrm>
        </p:grpSpPr>
        <p:sp>
          <p:nvSpPr>
            <p:cNvPr name="Freeform 9" id="9"/>
            <p:cNvSpPr/>
            <p:nvPr/>
          </p:nvSpPr>
          <p:spPr>
            <a:xfrm flipH="false" flipV="false" rot="0">
              <a:off x="0" y="0"/>
              <a:ext cx="1841679" cy="818938"/>
            </a:xfrm>
            <a:custGeom>
              <a:avLst/>
              <a:gdLst/>
              <a:ahLst/>
              <a:cxnLst/>
              <a:rect r="r" b="b" t="t" l="l"/>
              <a:pathLst>
                <a:path h="818938" w="1841679">
                  <a:moveTo>
                    <a:pt x="0" y="0"/>
                  </a:moveTo>
                  <a:lnTo>
                    <a:pt x="1841679" y="0"/>
                  </a:lnTo>
                  <a:lnTo>
                    <a:pt x="1841679" y="818938"/>
                  </a:lnTo>
                  <a:lnTo>
                    <a:pt x="0" y="818938"/>
                  </a:lnTo>
                  <a:close/>
                </a:path>
              </a:pathLst>
            </a:custGeom>
            <a:blipFill>
              <a:blip r:embed="rId7"/>
              <a:stretch>
                <a:fillRect l="0" t="-118770" r="0" b="-118770"/>
              </a:stretch>
            </a:blipFill>
            <a:ln cap="sq">
              <a:noFill/>
              <a:prstDash val="solid"/>
              <a:miter/>
            </a:ln>
          </p:spPr>
        </p:sp>
      </p:grpSp>
      <p:grpSp>
        <p:nvGrpSpPr>
          <p:cNvPr name="Group 10" id="10"/>
          <p:cNvGrpSpPr/>
          <p:nvPr/>
        </p:nvGrpSpPr>
        <p:grpSpPr>
          <a:xfrm rot="0">
            <a:off x="8743329" y="5862287"/>
            <a:ext cx="7637161" cy="3396013"/>
            <a:chOff x="0" y="0"/>
            <a:chExt cx="1841679" cy="818938"/>
          </a:xfrm>
        </p:grpSpPr>
        <p:sp>
          <p:nvSpPr>
            <p:cNvPr name="Freeform 11" id="11"/>
            <p:cNvSpPr/>
            <p:nvPr/>
          </p:nvSpPr>
          <p:spPr>
            <a:xfrm flipH="false" flipV="false" rot="0">
              <a:off x="0" y="0"/>
              <a:ext cx="1841679" cy="818938"/>
            </a:xfrm>
            <a:custGeom>
              <a:avLst/>
              <a:gdLst/>
              <a:ahLst/>
              <a:cxnLst/>
              <a:rect r="r" b="b" t="t" l="l"/>
              <a:pathLst>
                <a:path h="818938" w="1841679">
                  <a:moveTo>
                    <a:pt x="0" y="0"/>
                  </a:moveTo>
                  <a:lnTo>
                    <a:pt x="1841679" y="0"/>
                  </a:lnTo>
                  <a:lnTo>
                    <a:pt x="1841679" y="818938"/>
                  </a:lnTo>
                  <a:lnTo>
                    <a:pt x="0" y="818938"/>
                  </a:lnTo>
                  <a:close/>
                </a:path>
              </a:pathLst>
            </a:custGeom>
            <a:blipFill>
              <a:blip r:embed="rId8"/>
              <a:stretch>
                <a:fillRect l="0" t="-24915" r="0" b="-24915"/>
              </a:stretch>
            </a:blipFill>
            <a:ln cap="sq">
              <a:noFill/>
              <a:prstDash val="solid"/>
              <a:miter/>
            </a:ln>
          </p:spPr>
        </p:sp>
      </p:grpSp>
      <p:grpSp>
        <p:nvGrpSpPr>
          <p:cNvPr name="Group 12" id="12"/>
          <p:cNvGrpSpPr/>
          <p:nvPr/>
        </p:nvGrpSpPr>
        <p:grpSpPr>
          <a:xfrm rot="0">
            <a:off x="8261393" y="8505285"/>
            <a:ext cx="1509560" cy="1276860"/>
            <a:chOff x="0" y="0"/>
            <a:chExt cx="397580" cy="336292"/>
          </a:xfrm>
        </p:grpSpPr>
        <p:sp>
          <p:nvSpPr>
            <p:cNvPr name="Freeform 13" id="13"/>
            <p:cNvSpPr/>
            <p:nvPr/>
          </p:nvSpPr>
          <p:spPr>
            <a:xfrm flipH="false" flipV="false" rot="0">
              <a:off x="0" y="0"/>
              <a:ext cx="397580" cy="336292"/>
            </a:xfrm>
            <a:custGeom>
              <a:avLst/>
              <a:gdLst/>
              <a:ahLst/>
              <a:cxnLst/>
              <a:rect r="r" b="b" t="t" l="l"/>
              <a:pathLst>
                <a:path h="336292" w="397580">
                  <a:moveTo>
                    <a:pt x="0" y="0"/>
                  </a:moveTo>
                  <a:lnTo>
                    <a:pt x="397580" y="0"/>
                  </a:lnTo>
                  <a:lnTo>
                    <a:pt x="397580" y="336292"/>
                  </a:lnTo>
                  <a:lnTo>
                    <a:pt x="0" y="336292"/>
                  </a:lnTo>
                  <a:close/>
                </a:path>
              </a:pathLst>
            </a:custGeom>
            <a:solidFill>
              <a:srgbClr val="5CE1E6"/>
            </a:solidFill>
          </p:spPr>
        </p:sp>
        <p:sp>
          <p:nvSpPr>
            <p:cNvPr name="TextBox 14" id="14"/>
            <p:cNvSpPr txBox="true"/>
            <p:nvPr/>
          </p:nvSpPr>
          <p:spPr>
            <a:xfrm>
              <a:off x="0" y="-85725"/>
              <a:ext cx="397580" cy="422017"/>
            </a:xfrm>
            <a:prstGeom prst="rect">
              <a:avLst/>
            </a:prstGeom>
          </p:spPr>
          <p:txBody>
            <a:bodyPr anchor="ctr" rtlCol="false" tIns="50800" lIns="50800" bIns="50800" rIns="50800"/>
            <a:lstStyle/>
            <a:p>
              <a:pPr algn="ctr">
                <a:lnSpc>
                  <a:spcPts val="2239"/>
                </a:lnSpc>
              </a:pPr>
            </a:p>
          </p:txBody>
        </p:sp>
      </p:grpSp>
      <p:sp>
        <p:nvSpPr>
          <p:cNvPr name="TextBox 15" id="15"/>
          <p:cNvSpPr txBox="true"/>
          <p:nvPr/>
        </p:nvSpPr>
        <p:spPr>
          <a:xfrm rot="0">
            <a:off x="1023407" y="2602235"/>
            <a:ext cx="6557487" cy="1066692"/>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COMPOSICIÓN</a:t>
            </a:r>
          </a:p>
        </p:txBody>
      </p:sp>
      <p:sp>
        <p:nvSpPr>
          <p:cNvPr name="TextBox 16" id="16"/>
          <p:cNvSpPr txBox="true"/>
          <p:nvPr/>
        </p:nvSpPr>
        <p:spPr>
          <a:xfrm rot="0">
            <a:off x="1023407" y="4850389"/>
            <a:ext cx="5779490" cy="3183255"/>
          </a:xfrm>
          <a:prstGeom prst="rect">
            <a:avLst/>
          </a:prstGeom>
        </p:spPr>
        <p:txBody>
          <a:bodyPr anchor="t" rtlCol="false" tIns="0" lIns="0" bIns="0" rIns="0">
            <a:spAutoFit/>
          </a:bodyPr>
          <a:lstStyle/>
          <a:p>
            <a:pPr algn="just">
              <a:lnSpc>
                <a:spcPts val="2520"/>
              </a:lnSpc>
            </a:pPr>
            <a:r>
              <a:rPr lang="en-US" sz="1800">
                <a:solidFill>
                  <a:srgbClr val="FFFFFF"/>
                </a:solidFill>
                <a:latin typeface="Agrandir"/>
                <a:ea typeface="Agrandir"/>
                <a:cs typeface="Agrandir"/>
                <a:sym typeface="Agrandir"/>
              </a:rPr>
              <a:t>Vue.js es un framework declararivo, que cuenta con una estructura de componentes en las que cada componente pueden crear dos estilos API diferentes, siendo:</a:t>
            </a:r>
          </a:p>
          <a:p>
            <a:pPr algn="just" marL="388620" indent="-194310" lvl="1">
              <a:lnSpc>
                <a:spcPts val="2520"/>
              </a:lnSpc>
              <a:buFont typeface="Arial"/>
              <a:buChar char="•"/>
            </a:pPr>
            <a:r>
              <a:rPr lang="en-US" sz="1800">
                <a:solidFill>
                  <a:srgbClr val="FFFFFF"/>
                </a:solidFill>
                <a:latin typeface="Agrandir"/>
                <a:ea typeface="Agrandir"/>
                <a:cs typeface="Agrandir"/>
                <a:sym typeface="Agrandir"/>
              </a:rPr>
              <a:t>Options API: ahí definimos la lógica de un componente utilizando un objeto de opciones como datos, métodos y montado. </a:t>
            </a:r>
          </a:p>
          <a:p>
            <a:pPr algn="just" marL="388620" indent="-194310" lvl="1">
              <a:lnSpc>
                <a:spcPts val="2520"/>
              </a:lnSpc>
              <a:spcBef>
                <a:spcPct val="0"/>
              </a:spcBef>
              <a:buFont typeface="Arial"/>
              <a:buChar char="•"/>
            </a:pPr>
            <a:r>
              <a:rPr lang="en-US" sz="1800">
                <a:solidFill>
                  <a:srgbClr val="FFFFFF"/>
                </a:solidFill>
                <a:latin typeface="Agrandir"/>
                <a:ea typeface="Agrandir"/>
                <a:cs typeface="Agrandir"/>
                <a:sym typeface="Agrandir"/>
              </a:rPr>
              <a:t>Composition API en este caso definimos la lógica de un componente mediante funciones de API importadas.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3958666"/>
            <a:ext cx="865581" cy="1345883"/>
            <a:chOff x="0" y="0"/>
            <a:chExt cx="227972" cy="354471"/>
          </a:xfrm>
        </p:grpSpPr>
        <p:sp>
          <p:nvSpPr>
            <p:cNvPr name="Freeform 5" id="5"/>
            <p:cNvSpPr/>
            <p:nvPr/>
          </p:nvSpPr>
          <p:spPr>
            <a:xfrm flipH="false" flipV="false" rot="0">
              <a:off x="0" y="0"/>
              <a:ext cx="227972" cy="354471"/>
            </a:xfrm>
            <a:custGeom>
              <a:avLst/>
              <a:gdLst/>
              <a:ahLst/>
              <a:cxnLst/>
              <a:rect r="r" b="b" t="t" l="l"/>
              <a:pathLst>
                <a:path h="354471" w="227972">
                  <a:moveTo>
                    <a:pt x="0" y="0"/>
                  </a:moveTo>
                  <a:lnTo>
                    <a:pt x="227972" y="0"/>
                  </a:lnTo>
                  <a:lnTo>
                    <a:pt x="227972" y="354471"/>
                  </a:lnTo>
                  <a:lnTo>
                    <a:pt x="0" y="354471"/>
                  </a:lnTo>
                  <a:close/>
                </a:path>
              </a:pathLst>
            </a:custGeom>
            <a:solidFill>
              <a:srgbClr val="5CE1E6"/>
            </a:solidFill>
          </p:spPr>
        </p:sp>
        <p:sp>
          <p:nvSpPr>
            <p:cNvPr name="TextBox 6" id="6"/>
            <p:cNvSpPr txBox="true"/>
            <p:nvPr/>
          </p:nvSpPr>
          <p:spPr>
            <a:xfrm>
              <a:off x="0" y="-104775"/>
              <a:ext cx="227972" cy="459246"/>
            </a:xfrm>
            <a:prstGeom prst="rect">
              <a:avLst/>
            </a:prstGeom>
          </p:spPr>
          <p:txBody>
            <a:bodyPr anchor="ctr" rtlCol="false" tIns="50800" lIns="50800" bIns="50800" rIns="50800"/>
            <a:lstStyle/>
            <a:p>
              <a:pPr algn="ctr">
                <a:lnSpc>
                  <a:spcPts val="2940"/>
                </a:lnSpc>
              </a:pPr>
            </a:p>
          </p:txBody>
        </p:sp>
      </p:grpSp>
      <p:grpSp>
        <p:nvGrpSpPr>
          <p:cNvPr name="Group 7" id="7"/>
          <p:cNvGrpSpPr/>
          <p:nvPr/>
        </p:nvGrpSpPr>
        <p:grpSpPr>
          <a:xfrm rot="0">
            <a:off x="1033993" y="5935542"/>
            <a:ext cx="865581" cy="1345883"/>
            <a:chOff x="0" y="0"/>
            <a:chExt cx="227972" cy="354471"/>
          </a:xfrm>
        </p:grpSpPr>
        <p:sp>
          <p:nvSpPr>
            <p:cNvPr name="Freeform 8" id="8"/>
            <p:cNvSpPr/>
            <p:nvPr/>
          </p:nvSpPr>
          <p:spPr>
            <a:xfrm flipH="false" flipV="false" rot="0">
              <a:off x="0" y="0"/>
              <a:ext cx="227972" cy="354471"/>
            </a:xfrm>
            <a:custGeom>
              <a:avLst/>
              <a:gdLst/>
              <a:ahLst/>
              <a:cxnLst/>
              <a:rect r="r" b="b" t="t" l="l"/>
              <a:pathLst>
                <a:path h="354471" w="227972">
                  <a:moveTo>
                    <a:pt x="0" y="0"/>
                  </a:moveTo>
                  <a:lnTo>
                    <a:pt x="227972" y="0"/>
                  </a:lnTo>
                  <a:lnTo>
                    <a:pt x="227972" y="354471"/>
                  </a:lnTo>
                  <a:lnTo>
                    <a:pt x="0" y="354471"/>
                  </a:lnTo>
                  <a:close/>
                </a:path>
              </a:pathLst>
            </a:custGeom>
            <a:solidFill>
              <a:srgbClr val="5CE1E6"/>
            </a:solidFill>
          </p:spPr>
        </p:sp>
        <p:sp>
          <p:nvSpPr>
            <p:cNvPr name="TextBox 9" id="9"/>
            <p:cNvSpPr txBox="true"/>
            <p:nvPr/>
          </p:nvSpPr>
          <p:spPr>
            <a:xfrm>
              <a:off x="0" y="-104775"/>
              <a:ext cx="227972" cy="459246"/>
            </a:xfrm>
            <a:prstGeom prst="rect">
              <a:avLst/>
            </a:prstGeom>
          </p:spPr>
          <p:txBody>
            <a:bodyPr anchor="ctr" rtlCol="false" tIns="50800" lIns="50800" bIns="50800" rIns="50800"/>
            <a:lstStyle/>
            <a:p>
              <a:pPr algn="ctr">
                <a:lnSpc>
                  <a:spcPts val="2940"/>
                </a:lnSpc>
              </a:pPr>
            </a:p>
          </p:txBody>
        </p:sp>
      </p:grpSp>
      <p:grpSp>
        <p:nvGrpSpPr>
          <p:cNvPr name="Group 10" id="10"/>
          <p:cNvGrpSpPr/>
          <p:nvPr/>
        </p:nvGrpSpPr>
        <p:grpSpPr>
          <a:xfrm rot="0">
            <a:off x="1039287" y="7912417"/>
            <a:ext cx="865581" cy="1345883"/>
            <a:chOff x="0" y="0"/>
            <a:chExt cx="227972" cy="354471"/>
          </a:xfrm>
        </p:grpSpPr>
        <p:sp>
          <p:nvSpPr>
            <p:cNvPr name="Freeform 11" id="11"/>
            <p:cNvSpPr/>
            <p:nvPr/>
          </p:nvSpPr>
          <p:spPr>
            <a:xfrm flipH="false" flipV="false" rot="0">
              <a:off x="0" y="0"/>
              <a:ext cx="227972" cy="354471"/>
            </a:xfrm>
            <a:custGeom>
              <a:avLst/>
              <a:gdLst/>
              <a:ahLst/>
              <a:cxnLst/>
              <a:rect r="r" b="b" t="t" l="l"/>
              <a:pathLst>
                <a:path h="354471" w="227972">
                  <a:moveTo>
                    <a:pt x="0" y="0"/>
                  </a:moveTo>
                  <a:lnTo>
                    <a:pt x="227972" y="0"/>
                  </a:lnTo>
                  <a:lnTo>
                    <a:pt x="227972" y="354471"/>
                  </a:lnTo>
                  <a:lnTo>
                    <a:pt x="0" y="354471"/>
                  </a:lnTo>
                  <a:close/>
                </a:path>
              </a:pathLst>
            </a:custGeom>
            <a:solidFill>
              <a:srgbClr val="5CE1E6"/>
            </a:solidFill>
          </p:spPr>
        </p:sp>
        <p:sp>
          <p:nvSpPr>
            <p:cNvPr name="TextBox 12" id="12"/>
            <p:cNvSpPr txBox="true"/>
            <p:nvPr/>
          </p:nvSpPr>
          <p:spPr>
            <a:xfrm>
              <a:off x="0" y="-104775"/>
              <a:ext cx="227972" cy="459246"/>
            </a:xfrm>
            <a:prstGeom prst="rect">
              <a:avLst/>
            </a:prstGeom>
          </p:spPr>
          <p:txBody>
            <a:bodyPr anchor="ctr" rtlCol="false" tIns="50800" lIns="50800" bIns="50800" rIns="50800"/>
            <a:lstStyle/>
            <a:p>
              <a:pPr algn="ctr">
                <a:lnSpc>
                  <a:spcPts val="2940"/>
                </a:lnSpc>
              </a:pPr>
            </a:p>
          </p:txBody>
        </p:sp>
      </p:grpSp>
      <p:grpSp>
        <p:nvGrpSpPr>
          <p:cNvPr name="Group 13" id="13"/>
          <p:cNvGrpSpPr/>
          <p:nvPr/>
        </p:nvGrpSpPr>
        <p:grpSpPr>
          <a:xfrm rot="0">
            <a:off x="11033503" y="2427420"/>
            <a:ext cx="5983347" cy="6127935"/>
            <a:chOff x="0" y="0"/>
            <a:chExt cx="926977" cy="949378"/>
          </a:xfrm>
        </p:grpSpPr>
        <p:sp>
          <p:nvSpPr>
            <p:cNvPr name="Freeform 14" id="14"/>
            <p:cNvSpPr/>
            <p:nvPr/>
          </p:nvSpPr>
          <p:spPr>
            <a:xfrm flipH="false" flipV="false" rot="0">
              <a:off x="0" y="0"/>
              <a:ext cx="926977" cy="949378"/>
            </a:xfrm>
            <a:custGeom>
              <a:avLst/>
              <a:gdLst/>
              <a:ahLst/>
              <a:cxnLst/>
              <a:rect r="r" b="b" t="t" l="l"/>
              <a:pathLst>
                <a:path h="949378" w="926977">
                  <a:moveTo>
                    <a:pt x="0" y="0"/>
                  </a:moveTo>
                  <a:lnTo>
                    <a:pt x="926977" y="0"/>
                  </a:lnTo>
                  <a:lnTo>
                    <a:pt x="926977" y="949378"/>
                  </a:lnTo>
                  <a:lnTo>
                    <a:pt x="0" y="949378"/>
                  </a:lnTo>
                  <a:close/>
                </a:path>
              </a:pathLst>
            </a:custGeom>
            <a:blipFill>
              <a:blip r:embed="rId5"/>
              <a:stretch>
                <a:fillRect l="-18277" t="0" r="-18277" b="0"/>
              </a:stretch>
            </a:blipFill>
            <a:ln cap="sq">
              <a:noFill/>
              <a:prstDash val="solid"/>
              <a:miter/>
            </a:ln>
          </p:spPr>
        </p:sp>
      </p:grpSp>
      <p:grpSp>
        <p:nvGrpSpPr>
          <p:cNvPr name="Group 15" id="15"/>
          <p:cNvGrpSpPr/>
          <p:nvPr/>
        </p:nvGrpSpPr>
        <p:grpSpPr>
          <a:xfrm rot="0">
            <a:off x="15891739" y="6898803"/>
            <a:ext cx="2396261" cy="1013615"/>
            <a:chOff x="0" y="0"/>
            <a:chExt cx="631114" cy="266960"/>
          </a:xfrm>
        </p:grpSpPr>
        <p:sp>
          <p:nvSpPr>
            <p:cNvPr name="Freeform 16" id="16"/>
            <p:cNvSpPr/>
            <p:nvPr/>
          </p:nvSpPr>
          <p:spPr>
            <a:xfrm flipH="false" flipV="false" rot="0">
              <a:off x="0" y="0"/>
              <a:ext cx="631114" cy="266960"/>
            </a:xfrm>
            <a:custGeom>
              <a:avLst/>
              <a:gdLst/>
              <a:ahLst/>
              <a:cxnLst/>
              <a:rect r="r" b="b" t="t" l="l"/>
              <a:pathLst>
                <a:path h="266960" w="631114">
                  <a:moveTo>
                    <a:pt x="0" y="0"/>
                  </a:moveTo>
                  <a:lnTo>
                    <a:pt x="631114" y="0"/>
                  </a:lnTo>
                  <a:lnTo>
                    <a:pt x="631114" y="266960"/>
                  </a:lnTo>
                  <a:lnTo>
                    <a:pt x="0" y="266960"/>
                  </a:lnTo>
                  <a:close/>
                </a:path>
              </a:pathLst>
            </a:custGeom>
            <a:solidFill>
              <a:srgbClr val="5CE1E6"/>
            </a:solidFill>
          </p:spPr>
        </p:sp>
        <p:sp>
          <p:nvSpPr>
            <p:cNvPr name="TextBox 17" id="17"/>
            <p:cNvSpPr txBox="true"/>
            <p:nvPr/>
          </p:nvSpPr>
          <p:spPr>
            <a:xfrm>
              <a:off x="0" y="-85725"/>
              <a:ext cx="631114" cy="352685"/>
            </a:xfrm>
            <a:prstGeom prst="rect">
              <a:avLst/>
            </a:prstGeom>
          </p:spPr>
          <p:txBody>
            <a:bodyPr anchor="ctr" rtlCol="false" tIns="50800" lIns="50800" bIns="50800" rIns="50800"/>
            <a:lstStyle/>
            <a:p>
              <a:pPr algn="ctr">
                <a:lnSpc>
                  <a:spcPts val="2239"/>
                </a:lnSpc>
              </a:pPr>
            </a:p>
          </p:txBody>
        </p:sp>
      </p:grpSp>
      <p:sp>
        <p:nvSpPr>
          <p:cNvPr name="Freeform 18" id="18"/>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110787" y="4260187"/>
            <a:ext cx="722581" cy="742841"/>
          </a:xfrm>
          <a:custGeom>
            <a:avLst/>
            <a:gdLst/>
            <a:ahLst/>
            <a:cxnLst/>
            <a:rect r="r" b="b" t="t" l="l"/>
            <a:pathLst>
              <a:path h="742841" w="722581">
                <a:moveTo>
                  <a:pt x="0" y="0"/>
                </a:moveTo>
                <a:lnTo>
                  <a:pt x="722581" y="0"/>
                </a:lnTo>
                <a:lnTo>
                  <a:pt x="722581" y="742840"/>
                </a:lnTo>
                <a:lnTo>
                  <a:pt x="0" y="7428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071618" y="6158944"/>
            <a:ext cx="779746" cy="899078"/>
          </a:xfrm>
          <a:custGeom>
            <a:avLst/>
            <a:gdLst/>
            <a:ahLst/>
            <a:cxnLst/>
            <a:rect r="r" b="b" t="t" l="l"/>
            <a:pathLst>
              <a:path h="899078" w="779746">
                <a:moveTo>
                  <a:pt x="0" y="0"/>
                </a:moveTo>
                <a:lnTo>
                  <a:pt x="779745" y="0"/>
                </a:lnTo>
                <a:lnTo>
                  <a:pt x="779745" y="899078"/>
                </a:lnTo>
                <a:lnTo>
                  <a:pt x="0" y="8990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1061113" y="8138674"/>
            <a:ext cx="800756" cy="823207"/>
          </a:xfrm>
          <a:custGeom>
            <a:avLst/>
            <a:gdLst/>
            <a:ahLst/>
            <a:cxnLst/>
            <a:rect r="r" b="b" t="t" l="l"/>
            <a:pathLst>
              <a:path h="823207" w="800756">
                <a:moveTo>
                  <a:pt x="0" y="0"/>
                </a:moveTo>
                <a:lnTo>
                  <a:pt x="800756" y="0"/>
                </a:lnTo>
                <a:lnTo>
                  <a:pt x="800756" y="823207"/>
                </a:lnTo>
                <a:lnTo>
                  <a:pt x="0" y="8232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2" id="22"/>
          <p:cNvSpPr/>
          <p:nvPr/>
        </p:nvSpPr>
        <p:spPr>
          <a:xfrm flipH="false" flipV="false" rot="0">
            <a:off x="9704405" y="6131653"/>
            <a:ext cx="6840983" cy="4114800"/>
          </a:xfrm>
          <a:custGeom>
            <a:avLst/>
            <a:gdLst/>
            <a:ahLst/>
            <a:cxnLst/>
            <a:rect r="r" b="b" t="t" l="l"/>
            <a:pathLst>
              <a:path h="4114800" w="6840983">
                <a:moveTo>
                  <a:pt x="0" y="0"/>
                </a:moveTo>
                <a:lnTo>
                  <a:pt x="6840983" y="0"/>
                </a:lnTo>
                <a:lnTo>
                  <a:pt x="6840983"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3" id="23"/>
          <p:cNvSpPr txBox="true"/>
          <p:nvPr/>
        </p:nvSpPr>
        <p:spPr>
          <a:xfrm rot="0">
            <a:off x="2337712" y="4321568"/>
            <a:ext cx="5779490" cy="982980"/>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Agrandir"/>
                <a:ea typeface="Agrandir"/>
                <a:cs typeface="Agrandir"/>
                <a:sym typeface="Agrandir"/>
              </a:rPr>
              <a:t>Etiquetas reservadas para marcar el inicio y el fin del código escrito en JavaScript y las importaciones por parte de los componentes.</a:t>
            </a:r>
          </a:p>
        </p:txBody>
      </p:sp>
      <p:sp>
        <p:nvSpPr>
          <p:cNvPr name="TextBox 24" id="24"/>
          <p:cNvSpPr txBox="true"/>
          <p:nvPr/>
        </p:nvSpPr>
        <p:spPr>
          <a:xfrm rot="0">
            <a:off x="2280769" y="5934901"/>
            <a:ext cx="3389562" cy="362360"/>
          </a:xfrm>
          <a:prstGeom prst="rect">
            <a:avLst/>
          </a:prstGeom>
        </p:spPr>
        <p:txBody>
          <a:bodyPr anchor="t" rtlCol="false" tIns="0" lIns="0" bIns="0" rIns="0">
            <a:spAutoFit/>
          </a:bodyPr>
          <a:lstStyle/>
          <a:p>
            <a:pPr algn="l">
              <a:lnSpc>
                <a:spcPts val="2599"/>
              </a:lnSpc>
              <a:spcBef>
                <a:spcPct val="0"/>
              </a:spcBef>
            </a:pPr>
            <a:r>
              <a:rPr lang="en-US" sz="1856">
                <a:solidFill>
                  <a:srgbClr val="FFFFFF"/>
                </a:solidFill>
                <a:latin typeface="Agrandir"/>
                <a:ea typeface="Agrandir"/>
                <a:cs typeface="Agrandir"/>
                <a:sym typeface="Agrandir"/>
              </a:rPr>
              <a:t>&lt;TEMPLATE&gt; &lt;/TEMPLATE&gt;</a:t>
            </a:r>
          </a:p>
        </p:txBody>
      </p:sp>
      <p:sp>
        <p:nvSpPr>
          <p:cNvPr name="TextBox 25" id="25"/>
          <p:cNvSpPr txBox="true"/>
          <p:nvPr/>
        </p:nvSpPr>
        <p:spPr>
          <a:xfrm rot="0">
            <a:off x="2343005" y="6298444"/>
            <a:ext cx="5779490" cy="982980"/>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Agrandir"/>
                <a:ea typeface="Agrandir"/>
                <a:cs typeface="Agrandir"/>
                <a:sym typeface="Agrandir"/>
              </a:rPr>
              <a:t>Etiquetas reservadas para marcar el inicio y el fin del código escrito en HTML y haciendo manejo de las etiquetas.</a:t>
            </a:r>
          </a:p>
        </p:txBody>
      </p:sp>
      <p:sp>
        <p:nvSpPr>
          <p:cNvPr name="TextBox 26" id="26"/>
          <p:cNvSpPr txBox="true"/>
          <p:nvPr/>
        </p:nvSpPr>
        <p:spPr>
          <a:xfrm rot="0">
            <a:off x="2343005" y="3897826"/>
            <a:ext cx="3389562" cy="362360"/>
          </a:xfrm>
          <a:prstGeom prst="rect">
            <a:avLst/>
          </a:prstGeom>
        </p:spPr>
        <p:txBody>
          <a:bodyPr anchor="t" rtlCol="false" tIns="0" lIns="0" bIns="0" rIns="0">
            <a:spAutoFit/>
          </a:bodyPr>
          <a:lstStyle/>
          <a:p>
            <a:pPr algn="l">
              <a:lnSpc>
                <a:spcPts val="2599"/>
              </a:lnSpc>
              <a:spcBef>
                <a:spcPct val="0"/>
              </a:spcBef>
            </a:pPr>
            <a:r>
              <a:rPr lang="en-US" sz="1856">
                <a:solidFill>
                  <a:srgbClr val="FFFFFF"/>
                </a:solidFill>
                <a:latin typeface="Agrandir"/>
                <a:ea typeface="Agrandir"/>
                <a:cs typeface="Agrandir"/>
                <a:sym typeface="Agrandir"/>
              </a:rPr>
              <a:t>&lt;SCRIPT&gt; &lt;/SCRIPT&gt;</a:t>
            </a:r>
          </a:p>
        </p:txBody>
      </p:sp>
      <p:sp>
        <p:nvSpPr>
          <p:cNvPr name="TextBox 27" id="27"/>
          <p:cNvSpPr txBox="true"/>
          <p:nvPr/>
        </p:nvSpPr>
        <p:spPr>
          <a:xfrm rot="0">
            <a:off x="2348298" y="8275320"/>
            <a:ext cx="5779490" cy="982980"/>
          </a:xfrm>
          <a:prstGeom prst="rect">
            <a:avLst/>
          </a:prstGeom>
        </p:spPr>
        <p:txBody>
          <a:bodyPr anchor="t" rtlCol="false" tIns="0" lIns="0" bIns="0" rIns="0">
            <a:spAutoFit/>
          </a:bodyPr>
          <a:lstStyle/>
          <a:p>
            <a:pPr algn="just">
              <a:lnSpc>
                <a:spcPts val="2520"/>
              </a:lnSpc>
              <a:spcBef>
                <a:spcPct val="0"/>
              </a:spcBef>
            </a:pPr>
            <a:r>
              <a:rPr lang="en-US" sz="1800">
                <a:solidFill>
                  <a:srgbClr val="FFFFFF"/>
                </a:solidFill>
                <a:latin typeface="Agrandir"/>
                <a:ea typeface="Agrandir"/>
                <a:cs typeface="Agrandir"/>
                <a:sym typeface="Agrandir"/>
              </a:rPr>
              <a:t>Etiquetas reservadas para marcar el inicio y el fin del código escrito en CSS para definir los estilos y el diseño de los elementos defindos en HTML.</a:t>
            </a:r>
          </a:p>
        </p:txBody>
      </p:sp>
      <p:sp>
        <p:nvSpPr>
          <p:cNvPr name="TextBox 28" id="28"/>
          <p:cNvSpPr txBox="true"/>
          <p:nvPr/>
        </p:nvSpPr>
        <p:spPr>
          <a:xfrm rot="0">
            <a:off x="2348298" y="7826693"/>
            <a:ext cx="3389562" cy="362360"/>
          </a:xfrm>
          <a:prstGeom prst="rect">
            <a:avLst/>
          </a:prstGeom>
        </p:spPr>
        <p:txBody>
          <a:bodyPr anchor="t" rtlCol="false" tIns="0" lIns="0" bIns="0" rIns="0">
            <a:spAutoFit/>
          </a:bodyPr>
          <a:lstStyle/>
          <a:p>
            <a:pPr algn="l">
              <a:lnSpc>
                <a:spcPts val="2599"/>
              </a:lnSpc>
              <a:spcBef>
                <a:spcPct val="0"/>
              </a:spcBef>
            </a:pPr>
            <a:r>
              <a:rPr lang="en-US" sz="1856">
                <a:solidFill>
                  <a:srgbClr val="FFFFFF"/>
                </a:solidFill>
                <a:latin typeface="Agrandir"/>
                <a:ea typeface="Agrandir"/>
                <a:cs typeface="Agrandir"/>
                <a:sym typeface="Agrandir"/>
              </a:rPr>
              <a:t>&lt;STYLE&gt; &lt;/STYLE&gt;</a:t>
            </a:r>
          </a:p>
        </p:txBody>
      </p:sp>
      <p:sp>
        <p:nvSpPr>
          <p:cNvPr name="TextBox 29" id="29"/>
          <p:cNvSpPr txBox="true"/>
          <p:nvPr/>
        </p:nvSpPr>
        <p:spPr>
          <a:xfrm rot="0">
            <a:off x="3130680" y="1451191"/>
            <a:ext cx="9994216" cy="2019133"/>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ESTRUCTURA BASICA DE LOS COMPONENTES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730094" y="2833484"/>
            <a:ext cx="3171318" cy="4464793"/>
            <a:chOff x="0" y="0"/>
            <a:chExt cx="835244" cy="1175912"/>
          </a:xfrm>
        </p:grpSpPr>
        <p:sp>
          <p:nvSpPr>
            <p:cNvPr name="Freeform 5" id="5"/>
            <p:cNvSpPr/>
            <p:nvPr/>
          </p:nvSpPr>
          <p:spPr>
            <a:xfrm flipH="false" flipV="false" rot="0">
              <a:off x="0" y="0"/>
              <a:ext cx="835244" cy="1175912"/>
            </a:xfrm>
            <a:custGeom>
              <a:avLst/>
              <a:gdLst/>
              <a:ahLst/>
              <a:cxnLst/>
              <a:rect r="r" b="b" t="t" l="l"/>
              <a:pathLst>
                <a:path h="1175912" w="835244">
                  <a:moveTo>
                    <a:pt x="0" y="0"/>
                  </a:moveTo>
                  <a:lnTo>
                    <a:pt x="835244" y="0"/>
                  </a:lnTo>
                  <a:lnTo>
                    <a:pt x="835244" y="1175912"/>
                  </a:lnTo>
                  <a:lnTo>
                    <a:pt x="0" y="1175912"/>
                  </a:lnTo>
                  <a:close/>
                </a:path>
              </a:pathLst>
            </a:custGeom>
            <a:solidFill>
              <a:srgbClr val="5CE1E6"/>
            </a:solidFill>
          </p:spPr>
        </p:sp>
        <p:sp>
          <p:nvSpPr>
            <p:cNvPr name="TextBox 6" id="6"/>
            <p:cNvSpPr txBox="true"/>
            <p:nvPr/>
          </p:nvSpPr>
          <p:spPr>
            <a:xfrm>
              <a:off x="0" y="-85725"/>
              <a:ext cx="835244" cy="1261637"/>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9819953" y="2241901"/>
            <a:ext cx="7196897" cy="6313454"/>
            <a:chOff x="0" y="0"/>
            <a:chExt cx="1114988" cy="978119"/>
          </a:xfrm>
        </p:grpSpPr>
        <p:sp>
          <p:nvSpPr>
            <p:cNvPr name="Freeform 8" id="8"/>
            <p:cNvSpPr/>
            <p:nvPr/>
          </p:nvSpPr>
          <p:spPr>
            <a:xfrm flipH="false" flipV="false" rot="0">
              <a:off x="0" y="0"/>
              <a:ext cx="1114988" cy="978119"/>
            </a:xfrm>
            <a:custGeom>
              <a:avLst/>
              <a:gdLst/>
              <a:ahLst/>
              <a:cxnLst/>
              <a:rect r="r" b="b" t="t" l="l"/>
              <a:pathLst>
                <a:path h="978119" w="1114988">
                  <a:moveTo>
                    <a:pt x="0" y="0"/>
                  </a:moveTo>
                  <a:lnTo>
                    <a:pt x="1114988" y="0"/>
                  </a:lnTo>
                  <a:lnTo>
                    <a:pt x="1114988" y="978119"/>
                  </a:lnTo>
                  <a:lnTo>
                    <a:pt x="0" y="978119"/>
                  </a:lnTo>
                  <a:close/>
                </a:path>
              </a:pathLst>
            </a:custGeom>
            <a:blipFill>
              <a:blip r:embed="rId5"/>
              <a:stretch>
                <a:fillRect l="-15834" t="0" r="-15834" b="0"/>
              </a:stretch>
            </a:blipFill>
            <a:ln cap="sq">
              <a:noFill/>
              <a:prstDash val="solid"/>
              <a:miter/>
            </a:ln>
          </p:spPr>
        </p:sp>
      </p:grpSp>
      <p:sp>
        <p:nvSpPr>
          <p:cNvPr name="Freeform 9" id="9"/>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23407" y="2602235"/>
            <a:ext cx="6557487" cy="1066692"/>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DIRECTIVAS</a:t>
            </a:r>
          </a:p>
        </p:txBody>
      </p:sp>
      <p:sp>
        <p:nvSpPr>
          <p:cNvPr name="TextBox 11" id="11"/>
          <p:cNvSpPr txBox="true"/>
          <p:nvPr/>
        </p:nvSpPr>
        <p:spPr>
          <a:xfrm rot="0">
            <a:off x="1023407" y="4850389"/>
            <a:ext cx="5779490" cy="4754880"/>
          </a:xfrm>
          <a:prstGeom prst="rect">
            <a:avLst/>
          </a:prstGeom>
        </p:spPr>
        <p:txBody>
          <a:bodyPr anchor="t" rtlCol="false" tIns="0" lIns="0" bIns="0" rIns="0">
            <a:spAutoFit/>
          </a:bodyPr>
          <a:lstStyle/>
          <a:p>
            <a:pPr algn="just">
              <a:lnSpc>
                <a:spcPts val="2520"/>
              </a:lnSpc>
            </a:pPr>
            <a:r>
              <a:rPr lang="en-US" sz="1800">
                <a:solidFill>
                  <a:srgbClr val="FFFFFF"/>
                </a:solidFill>
                <a:latin typeface="Agrandir"/>
                <a:ea typeface="Agrandir"/>
                <a:cs typeface="Agrandir"/>
                <a:sym typeface="Agrandir"/>
              </a:rPr>
              <a:t>las directivas en vue.js son palabras clave bajo el prefijo “v-” agregando propiedades entre los principales ejemplos de las directivas se encuentran:</a:t>
            </a:r>
          </a:p>
          <a:p>
            <a:pPr algn="just" marL="388620" indent="-194310" lvl="1">
              <a:lnSpc>
                <a:spcPts val="2520"/>
              </a:lnSpc>
              <a:buFont typeface="Arial"/>
              <a:buChar char="•"/>
            </a:pPr>
            <a:r>
              <a:rPr lang="en-US" sz="1800">
                <a:solidFill>
                  <a:srgbClr val="FFFFFF"/>
                </a:solidFill>
                <a:latin typeface="Agrandir"/>
                <a:ea typeface="Agrandir"/>
                <a:cs typeface="Agrandir"/>
                <a:sym typeface="Agrandir"/>
              </a:rPr>
              <a:t>v-if: elimina o inserta el elemento &lt;p&gt; si el valor de la expresión "mostrado" es verdadero.</a:t>
            </a:r>
          </a:p>
          <a:p>
            <a:pPr algn="just" marL="388620" indent="-194310" lvl="1">
              <a:lnSpc>
                <a:spcPts val="2520"/>
              </a:lnSpc>
              <a:buFont typeface="Arial"/>
              <a:buChar char="•"/>
            </a:pPr>
            <a:r>
              <a:rPr lang="en-US" sz="1800">
                <a:solidFill>
                  <a:srgbClr val="FFFFFF"/>
                </a:solidFill>
                <a:latin typeface="Agrandir"/>
                <a:ea typeface="Agrandir"/>
                <a:cs typeface="Agrandir"/>
                <a:sym typeface="Agrandir"/>
              </a:rPr>
              <a:t>v-else/else-if: se hace presente como una alternativa en caso de que un v-if no se cumpla.</a:t>
            </a:r>
          </a:p>
          <a:p>
            <a:pPr algn="just" marL="388620" indent="-194310" lvl="1">
              <a:lnSpc>
                <a:spcPts val="2520"/>
              </a:lnSpc>
              <a:buFont typeface="Arial"/>
              <a:buChar char="•"/>
            </a:pPr>
            <a:r>
              <a:rPr lang="en-US" sz="1800">
                <a:solidFill>
                  <a:srgbClr val="FFFFFF"/>
                </a:solidFill>
                <a:latin typeface="Agrandir"/>
                <a:ea typeface="Agrandir"/>
                <a:cs typeface="Agrandir"/>
                <a:sym typeface="Agrandir"/>
              </a:rPr>
              <a:t>v-show: Alterna la visibilidad del elemento en función de la veracidad del valor de la expresión.</a:t>
            </a:r>
          </a:p>
          <a:p>
            <a:pPr algn="just" marL="388620" indent="-194310" lvl="1">
              <a:lnSpc>
                <a:spcPts val="2520"/>
              </a:lnSpc>
              <a:buFont typeface="Arial"/>
              <a:buChar char="•"/>
            </a:pPr>
            <a:r>
              <a:rPr lang="en-US" sz="1800">
                <a:solidFill>
                  <a:srgbClr val="FFFFFF"/>
                </a:solidFill>
                <a:latin typeface="Agrandir"/>
                <a:ea typeface="Agrandir"/>
                <a:cs typeface="Agrandir"/>
                <a:sym typeface="Agrandir"/>
              </a:rPr>
              <a:t>v-bind: se utiliza para actualizar de forma reactiva un atributo HTML.</a:t>
            </a:r>
          </a:p>
          <a:p>
            <a:pPr algn="just" marL="388620" indent="-194310" lvl="1">
              <a:lnSpc>
                <a:spcPts val="2520"/>
              </a:lnSpc>
              <a:buFont typeface="Arial"/>
              <a:buChar char="•"/>
            </a:pPr>
            <a:r>
              <a:rPr lang="en-US" sz="1800">
                <a:solidFill>
                  <a:srgbClr val="FFFFFF"/>
                </a:solidFill>
                <a:latin typeface="Agrandir"/>
                <a:ea typeface="Agrandir"/>
                <a:cs typeface="Agrandir"/>
                <a:sym typeface="Agrandir"/>
              </a:rPr>
              <a:t>v-model: Se puede utilizar en un componente para implementar un enlace bidireccional.</a:t>
            </a:r>
          </a:p>
          <a:p>
            <a:pPr algn="just" marL="388620" indent="-194310" lvl="1">
              <a:lnSpc>
                <a:spcPts val="2520"/>
              </a:lnSpc>
              <a:spcBef>
                <a:spcPct val="0"/>
              </a:spcBef>
              <a:buFont typeface="Arial"/>
              <a:buChar char="•"/>
            </a:pPr>
            <a:r>
              <a:rPr lang="en-US" sz="1800">
                <a:solidFill>
                  <a:srgbClr val="FFFFFF"/>
                </a:solidFill>
                <a:latin typeface="Agrandir"/>
                <a:ea typeface="Agrandir"/>
                <a:cs typeface="Agrandir"/>
                <a:sym typeface="Agrandir"/>
              </a:rPr>
              <a:t>v-for: se utiliza para mostrar una lista de elementos que utilizan los datos de una matriz.</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0" y="8622000"/>
            <a:ext cx="3171318" cy="1160145"/>
            <a:chOff x="0" y="0"/>
            <a:chExt cx="835244" cy="305553"/>
          </a:xfrm>
        </p:grpSpPr>
        <p:sp>
          <p:nvSpPr>
            <p:cNvPr name="Freeform 6" id="6"/>
            <p:cNvSpPr/>
            <p:nvPr/>
          </p:nvSpPr>
          <p:spPr>
            <a:xfrm flipH="false" flipV="false" rot="0">
              <a:off x="0" y="0"/>
              <a:ext cx="835244" cy="305553"/>
            </a:xfrm>
            <a:custGeom>
              <a:avLst/>
              <a:gdLst/>
              <a:ahLst/>
              <a:cxnLst/>
              <a:rect r="r" b="b" t="t" l="l"/>
              <a:pathLst>
                <a:path h="305553" w="835244">
                  <a:moveTo>
                    <a:pt x="0" y="0"/>
                  </a:moveTo>
                  <a:lnTo>
                    <a:pt x="835244" y="0"/>
                  </a:lnTo>
                  <a:lnTo>
                    <a:pt x="835244" y="305553"/>
                  </a:lnTo>
                  <a:lnTo>
                    <a:pt x="0" y="305553"/>
                  </a:lnTo>
                  <a:close/>
                </a:path>
              </a:pathLst>
            </a:custGeom>
            <a:solidFill>
              <a:srgbClr val="5CE1E6"/>
            </a:solidFill>
          </p:spPr>
        </p:sp>
        <p:sp>
          <p:nvSpPr>
            <p:cNvPr name="TextBox 7" id="7"/>
            <p:cNvSpPr txBox="true"/>
            <p:nvPr/>
          </p:nvSpPr>
          <p:spPr>
            <a:xfrm>
              <a:off x="0" y="-85725"/>
              <a:ext cx="835244" cy="391278"/>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673827" y="1376174"/>
            <a:ext cx="5131137" cy="7016399"/>
            <a:chOff x="0" y="0"/>
            <a:chExt cx="794947" cy="1087024"/>
          </a:xfrm>
        </p:grpSpPr>
        <p:sp>
          <p:nvSpPr>
            <p:cNvPr name="Freeform 9" id="9"/>
            <p:cNvSpPr/>
            <p:nvPr/>
          </p:nvSpPr>
          <p:spPr>
            <a:xfrm flipH="false" flipV="false" rot="0">
              <a:off x="0" y="0"/>
              <a:ext cx="794947" cy="1087024"/>
            </a:xfrm>
            <a:custGeom>
              <a:avLst/>
              <a:gdLst/>
              <a:ahLst/>
              <a:cxnLst/>
              <a:rect r="r" b="b" t="t" l="l"/>
              <a:pathLst>
                <a:path h="1087024" w="794947">
                  <a:moveTo>
                    <a:pt x="0" y="0"/>
                  </a:moveTo>
                  <a:lnTo>
                    <a:pt x="794947" y="0"/>
                  </a:lnTo>
                  <a:lnTo>
                    <a:pt x="794947" y="1087024"/>
                  </a:lnTo>
                  <a:lnTo>
                    <a:pt x="0" y="1087024"/>
                  </a:lnTo>
                  <a:close/>
                </a:path>
              </a:pathLst>
            </a:custGeom>
            <a:blipFill>
              <a:blip r:embed="rId7"/>
              <a:stretch>
                <a:fillRect l="0" t="-4882" r="0" b="-4882"/>
              </a:stretch>
            </a:blipFill>
            <a:ln cap="sq">
              <a:noFill/>
              <a:prstDash val="solid"/>
              <a:miter/>
            </a:ln>
          </p:spPr>
        </p:sp>
      </p:grpSp>
      <p:sp>
        <p:nvSpPr>
          <p:cNvPr name="TextBox 10" id="10"/>
          <p:cNvSpPr txBox="true"/>
          <p:nvPr/>
        </p:nvSpPr>
        <p:spPr>
          <a:xfrm rot="0">
            <a:off x="6109723" y="2602235"/>
            <a:ext cx="10907127" cy="2019252"/>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INTEGRACIÓN DE VUE.JS A SISTEMAS DISTRIBUIDOS</a:t>
            </a:r>
          </a:p>
        </p:txBody>
      </p:sp>
      <p:sp>
        <p:nvSpPr>
          <p:cNvPr name="TextBox 11" id="11"/>
          <p:cNvSpPr txBox="true"/>
          <p:nvPr/>
        </p:nvSpPr>
        <p:spPr>
          <a:xfrm rot="0">
            <a:off x="6603230" y="5048250"/>
            <a:ext cx="8958302" cy="3159979"/>
          </a:xfrm>
          <a:prstGeom prst="rect">
            <a:avLst/>
          </a:prstGeom>
        </p:spPr>
        <p:txBody>
          <a:bodyPr anchor="t" rtlCol="false" tIns="0" lIns="0" bIns="0" rIns="0">
            <a:spAutoFit/>
          </a:bodyPr>
          <a:lstStyle/>
          <a:p>
            <a:pPr algn="just">
              <a:lnSpc>
                <a:spcPts val="2774"/>
              </a:lnSpc>
            </a:pPr>
            <a:r>
              <a:rPr lang="en-US" sz="1982">
                <a:solidFill>
                  <a:srgbClr val="FFFFFF"/>
                </a:solidFill>
                <a:latin typeface="Agrandir"/>
                <a:ea typeface="Agrandir"/>
                <a:cs typeface="Agrandir"/>
                <a:sym typeface="Agrandir"/>
              </a:rPr>
              <a:t>Vue.js es un Framework enfocado al frontEnd por lo que es común que sea integrados a sistemas más complejos por medio del uso de API´s, para trabajar en conjunto con otros sistemas que harian de BackEnd, esto le define una arquitectura de sistema distribuido que permite la conexión atraves de la API siendo los más comunes:</a:t>
            </a:r>
          </a:p>
          <a:p>
            <a:pPr algn="just" marL="427929" indent="-213965" lvl="1">
              <a:lnSpc>
                <a:spcPts val="2774"/>
              </a:lnSpc>
              <a:buFont typeface="Arial"/>
              <a:buChar char="•"/>
            </a:pPr>
            <a:r>
              <a:rPr lang="en-US" sz="1982">
                <a:solidFill>
                  <a:srgbClr val="FFFFFF"/>
                </a:solidFill>
                <a:latin typeface="Agrandir"/>
                <a:ea typeface="Agrandir"/>
                <a:cs typeface="Agrandir"/>
                <a:sym typeface="Agrandir"/>
              </a:rPr>
              <a:t>FetchAPI (local). Una opción sencilla y directa que viene integrada en los navegadores.</a:t>
            </a:r>
          </a:p>
          <a:p>
            <a:pPr algn="just" marL="427929" indent="-213965" lvl="1">
              <a:lnSpc>
                <a:spcPts val="2774"/>
              </a:lnSpc>
              <a:spcBef>
                <a:spcPct val="0"/>
              </a:spcBef>
              <a:buFont typeface="Arial"/>
              <a:buChar char="•"/>
            </a:pPr>
            <a:r>
              <a:rPr lang="en-US" sz="1982">
                <a:solidFill>
                  <a:srgbClr val="FFFFFF"/>
                </a:solidFill>
                <a:latin typeface="Agrandir"/>
                <a:ea typeface="Agrandir"/>
                <a:cs typeface="Agrandir"/>
                <a:sym typeface="Agrandir"/>
              </a:rPr>
              <a:t>Axios (externo). Una librería externa que ofrece más funcionalidades y flexibilidad.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8261393" y="1832168"/>
            <a:ext cx="3640020" cy="2107739"/>
            <a:chOff x="0" y="0"/>
            <a:chExt cx="958688" cy="555125"/>
          </a:xfrm>
        </p:grpSpPr>
        <p:sp>
          <p:nvSpPr>
            <p:cNvPr name="Freeform 6" id="6"/>
            <p:cNvSpPr/>
            <p:nvPr/>
          </p:nvSpPr>
          <p:spPr>
            <a:xfrm flipH="false" flipV="false" rot="0">
              <a:off x="0" y="0"/>
              <a:ext cx="958688" cy="555125"/>
            </a:xfrm>
            <a:custGeom>
              <a:avLst/>
              <a:gdLst/>
              <a:ahLst/>
              <a:cxnLst/>
              <a:rect r="r" b="b" t="t" l="l"/>
              <a:pathLst>
                <a:path h="555125" w="958688">
                  <a:moveTo>
                    <a:pt x="0" y="0"/>
                  </a:moveTo>
                  <a:lnTo>
                    <a:pt x="958688" y="0"/>
                  </a:lnTo>
                  <a:lnTo>
                    <a:pt x="958688" y="555125"/>
                  </a:lnTo>
                  <a:lnTo>
                    <a:pt x="0" y="555125"/>
                  </a:lnTo>
                  <a:close/>
                </a:path>
              </a:pathLst>
            </a:custGeom>
            <a:solidFill>
              <a:srgbClr val="5CE1E6"/>
            </a:solidFill>
          </p:spPr>
        </p:sp>
        <p:sp>
          <p:nvSpPr>
            <p:cNvPr name="TextBox 7" id="7"/>
            <p:cNvSpPr txBox="true"/>
            <p:nvPr/>
          </p:nvSpPr>
          <p:spPr>
            <a:xfrm>
              <a:off x="0" y="-85725"/>
              <a:ext cx="958688" cy="640850"/>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8743329" y="2241901"/>
            <a:ext cx="7637161" cy="3396013"/>
            <a:chOff x="0" y="0"/>
            <a:chExt cx="1841679" cy="818938"/>
          </a:xfrm>
        </p:grpSpPr>
        <p:sp>
          <p:nvSpPr>
            <p:cNvPr name="Freeform 9" id="9"/>
            <p:cNvSpPr/>
            <p:nvPr/>
          </p:nvSpPr>
          <p:spPr>
            <a:xfrm flipH="false" flipV="false" rot="0">
              <a:off x="0" y="0"/>
              <a:ext cx="1841679" cy="818938"/>
            </a:xfrm>
            <a:custGeom>
              <a:avLst/>
              <a:gdLst/>
              <a:ahLst/>
              <a:cxnLst/>
              <a:rect r="r" b="b" t="t" l="l"/>
              <a:pathLst>
                <a:path h="818938" w="1841679">
                  <a:moveTo>
                    <a:pt x="0" y="0"/>
                  </a:moveTo>
                  <a:lnTo>
                    <a:pt x="1841679" y="0"/>
                  </a:lnTo>
                  <a:lnTo>
                    <a:pt x="1841679" y="818938"/>
                  </a:lnTo>
                  <a:lnTo>
                    <a:pt x="0" y="818938"/>
                  </a:lnTo>
                  <a:close/>
                </a:path>
              </a:pathLst>
            </a:custGeom>
            <a:blipFill>
              <a:blip r:embed="rId7"/>
              <a:stretch>
                <a:fillRect l="0" t="-24915" r="0" b="-24915"/>
              </a:stretch>
            </a:blipFill>
            <a:ln cap="sq">
              <a:noFill/>
              <a:prstDash val="solid"/>
              <a:miter/>
            </a:ln>
          </p:spPr>
        </p:sp>
      </p:grpSp>
      <p:grpSp>
        <p:nvGrpSpPr>
          <p:cNvPr name="Group 10" id="10"/>
          <p:cNvGrpSpPr/>
          <p:nvPr/>
        </p:nvGrpSpPr>
        <p:grpSpPr>
          <a:xfrm rot="0">
            <a:off x="8743329" y="5862287"/>
            <a:ext cx="7637161" cy="3396013"/>
            <a:chOff x="0" y="0"/>
            <a:chExt cx="1841679" cy="818938"/>
          </a:xfrm>
        </p:grpSpPr>
        <p:sp>
          <p:nvSpPr>
            <p:cNvPr name="Freeform 11" id="11"/>
            <p:cNvSpPr/>
            <p:nvPr/>
          </p:nvSpPr>
          <p:spPr>
            <a:xfrm flipH="false" flipV="false" rot="0">
              <a:off x="0" y="0"/>
              <a:ext cx="1841679" cy="818938"/>
            </a:xfrm>
            <a:custGeom>
              <a:avLst/>
              <a:gdLst/>
              <a:ahLst/>
              <a:cxnLst/>
              <a:rect r="r" b="b" t="t" l="l"/>
              <a:pathLst>
                <a:path h="818938" w="1841679">
                  <a:moveTo>
                    <a:pt x="0" y="0"/>
                  </a:moveTo>
                  <a:lnTo>
                    <a:pt x="1841679" y="0"/>
                  </a:lnTo>
                  <a:lnTo>
                    <a:pt x="1841679" y="818938"/>
                  </a:lnTo>
                  <a:lnTo>
                    <a:pt x="0" y="818938"/>
                  </a:lnTo>
                  <a:close/>
                </a:path>
              </a:pathLst>
            </a:custGeom>
            <a:blipFill>
              <a:blip r:embed="rId8"/>
              <a:stretch>
                <a:fillRect l="0" t="-135748" r="0" b="-101791"/>
              </a:stretch>
            </a:blipFill>
            <a:ln cap="sq">
              <a:noFill/>
              <a:prstDash val="solid"/>
              <a:miter/>
            </a:ln>
          </p:spPr>
        </p:sp>
      </p:grpSp>
      <p:grpSp>
        <p:nvGrpSpPr>
          <p:cNvPr name="Group 12" id="12"/>
          <p:cNvGrpSpPr/>
          <p:nvPr/>
        </p:nvGrpSpPr>
        <p:grpSpPr>
          <a:xfrm rot="0">
            <a:off x="8261393" y="8505285"/>
            <a:ext cx="1509560" cy="1276860"/>
            <a:chOff x="0" y="0"/>
            <a:chExt cx="397580" cy="336292"/>
          </a:xfrm>
        </p:grpSpPr>
        <p:sp>
          <p:nvSpPr>
            <p:cNvPr name="Freeform 13" id="13"/>
            <p:cNvSpPr/>
            <p:nvPr/>
          </p:nvSpPr>
          <p:spPr>
            <a:xfrm flipH="false" flipV="false" rot="0">
              <a:off x="0" y="0"/>
              <a:ext cx="397580" cy="336292"/>
            </a:xfrm>
            <a:custGeom>
              <a:avLst/>
              <a:gdLst/>
              <a:ahLst/>
              <a:cxnLst/>
              <a:rect r="r" b="b" t="t" l="l"/>
              <a:pathLst>
                <a:path h="336292" w="397580">
                  <a:moveTo>
                    <a:pt x="0" y="0"/>
                  </a:moveTo>
                  <a:lnTo>
                    <a:pt x="397580" y="0"/>
                  </a:lnTo>
                  <a:lnTo>
                    <a:pt x="397580" y="336292"/>
                  </a:lnTo>
                  <a:lnTo>
                    <a:pt x="0" y="336292"/>
                  </a:lnTo>
                  <a:close/>
                </a:path>
              </a:pathLst>
            </a:custGeom>
            <a:solidFill>
              <a:srgbClr val="5CE1E6"/>
            </a:solidFill>
          </p:spPr>
        </p:sp>
        <p:sp>
          <p:nvSpPr>
            <p:cNvPr name="TextBox 14" id="14"/>
            <p:cNvSpPr txBox="true"/>
            <p:nvPr/>
          </p:nvSpPr>
          <p:spPr>
            <a:xfrm>
              <a:off x="0" y="-85725"/>
              <a:ext cx="397580" cy="422017"/>
            </a:xfrm>
            <a:prstGeom prst="rect">
              <a:avLst/>
            </a:prstGeom>
          </p:spPr>
          <p:txBody>
            <a:bodyPr anchor="ctr" rtlCol="false" tIns="50800" lIns="50800" bIns="50800" rIns="50800"/>
            <a:lstStyle/>
            <a:p>
              <a:pPr algn="ctr">
                <a:lnSpc>
                  <a:spcPts val="2239"/>
                </a:lnSpc>
              </a:pPr>
            </a:p>
          </p:txBody>
        </p:sp>
      </p:grpSp>
      <p:sp>
        <p:nvSpPr>
          <p:cNvPr name="TextBox 15" id="15"/>
          <p:cNvSpPr txBox="true"/>
          <p:nvPr/>
        </p:nvSpPr>
        <p:spPr>
          <a:xfrm rot="0">
            <a:off x="14327317"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content</a:t>
            </a:r>
          </a:p>
        </p:txBody>
      </p:sp>
      <p:sp>
        <p:nvSpPr>
          <p:cNvPr name="TextBox 16" id="16"/>
          <p:cNvSpPr txBox="true"/>
          <p:nvPr/>
        </p:nvSpPr>
        <p:spPr>
          <a:xfrm rot="0">
            <a:off x="16234639"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others</a:t>
            </a:r>
          </a:p>
        </p:txBody>
      </p:sp>
      <p:sp>
        <p:nvSpPr>
          <p:cNvPr name="TextBox 17" id="17"/>
          <p:cNvSpPr txBox="true"/>
          <p:nvPr/>
        </p:nvSpPr>
        <p:spPr>
          <a:xfrm rot="0">
            <a:off x="111269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Home</a:t>
            </a:r>
          </a:p>
        </p:txBody>
      </p:sp>
      <p:sp>
        <p:nvSpPr>
          <p:cNvPr name="TextBox 18" id="18"/>
          <p:cNvSpPr txBox="true"/>
          <p:nvPr/>
        </p:nvSpPr>
        <p:spPr>
          <a:xfrm rot="0">
            <a:off x="126128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about</a:t>
            </a:r>
          </a:p>
        </p:txBody>
      </p:sp>
      <p:sp>
        <p:nvSpPr>
          <p:cNvPr name="TextBox 19" id="19"/>
          <p:cNvSpPr txBox="true"/>
          <p:nvPr/>
        </p:nvSpPr>
        <p:spPr>
          <a:xfrm rot="0">
            <a:off x="1023407" y="2602235"/>
            <a:ext cx="6557487" cy="1066692"/>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VENTAJAS </a:t>
            </a:r>
          </a:p>
        </p:txBody>
      </p:sp>
      <p:sp>
        <p:nvSpPr>
          <p:cNvPr name="TextBox 20" id="20"/>
          <p:cNvSpPr txBox="true"/>
          <p:nvPr/>
        </p:nvSpPr>
        <p:spPr>
          <a:xfrm rot="0">
            <a:off x="180446" y="3875000"/>
            <a:ext cx="7614346" cy="5383300"/>
          </a:xfrm>
          <a:prstGeom prst="rect">
            <a:avLst/>
          </a:prstGeom>
        </p:spPr>
        <p:txBody>
          <a:bodyPr anchor="t" rtlCol="false" tIns="0" lIns="0" bIns="0" rIns="0">
            <a:spAutoFit/>
          </a:bodyPr>
          <a:lstStyle/>
          <a:p>
            <a:pPr algn="just" marL="471535" indent="-235768" lvl="1">
              <a:lnSpc>
                <a:spcPts val="3057"/>
              </a:lnSpc>
              <a:buAutoNum type="arabicPeriod" startAt="1"/>
            </a:pPr>
            <a:r>
              <a:rPr lang="en-US" b="true" sz="2184">
                <a:solidFill>
                  <a:srgbClr val="FFFFFF"/>
                </a:solidFill>
                <a:latin typeface="Agrandir Bold"/>
                <a:ea typeface="Agrandir Bold"/>
                <a:cs typeface="Agrandir Bold"/>
                <a:sym typeface="Agrandir Bold"/>
              </a:rPr>
              <a:t>Fác</a:t>
            </a:r>
            <a:r>
              <a:rPr lang="en-US" b="true" sz="2184">
                <a:solidFill>
                  <a:srgbClr val="FFFFFF"/>
                </a:solidFill>
                <a:latin typeface="Agrandir Bold"/>
                <a:ea typeface="Agrandir Bold"/>
                <a:cs typeface="Agrandir Bold"/>
                <a:sym typeface="Agrandir Bold"/>
              </a:rPr>
              <a:t>il de aprender</a:t>
            </a:r>
            <a:r>
              <a:rPr lang="en-US" sz="2184">
                <a:solidFill>
                  <a:srgbClr val="FFFFFF"/>
                </a:solidFill>
                <a:latin typeface="Agrandir"/>
                <a:ea typeface="Agrandir"/>
                <a:cs typeface="Agrandir"/>
                <a:sym typeface="Agrandir"/>
              </a:rPr>
              <a:t>: Documentación clara y curva de aprendizaje suave.</a:t>
            </a:r>
          </a:p>
          <a:p>
            <a:pPr algn="just" marL="471535" indent="-235768" lvl="1">
              <a:lnSpc>
                <a:spcPts val="3057"/>
              </a:lnSpc>
              <a:buAutoNum type="arabicPeriod" startAt="1"/>
            </a:pPr>
            <a:r>
              <a:rPr lang="en-US" b="true" sz="2184">
                <a:solidFill>
                  <a:srgbClr val="FFFFFF"/>
                </a:solidFill>
                <a:latin typeface="Agrandir Bold"/>
                <a:ea typeface="Agrandir Bold"/>
                <a:cs typeface="Agrandir Bold"/>
                <a:sym typeface="Agrandir Bold"/>
              </a:rPr>
              <a:t>Flexible:</a:t>
            </a:r>
            <a:r>
              <a:rPr lang="en-US" sz="2184">
                <a:solidFill>
                  <a:srgbClr val="FFFFFF"/>
                </a:solidFill>
                <a:latin typeface="Agrandir"/>
                <a:ea typeface="Agrandir"/>
                <a:cs typeface="Agrandir"/>
                <a:sym typeface="Agrandir"/>
              </a:rPr>
              <a:t> Útil para proyectos pequeños y grandes, fácil de integrar.</a:t>
            </a:r>
          </a:p>
          <a:p>
            <a:pPr algn="just" marL="471535" indent="-235768" lvl="1">
              <a:lnSpc>
                <a:spcPts val="3057"/>
              </a:lnSpc>
              <a:buAutoNum type="arabicPeriod" startAt="1"/>
            </a:pPr>
            <a:r>
              <a:rPr lang="en-US" b="true" sz="2184">
                <a:solidFill>
                  <a:srgbClr val="FFFFFF"/>
                </a:solidFill>
                <a:latin typeface="Agrandir Bold"/>
                <a:ea typeface="Agrandir Bold"/>
                <a:cs typeface="Agrandir Bold"/>
                <a:sym typeface="Agrandir Bold"/>
              </a:rPr>
              <a:t>Rápido y ligero:</a:t>
            </a:r>
            <a:r>
              <a:rPr lang="en-US" sz="2184">
                <a:solidFill>
                  <a:srgbClr val="FFFFFF"/>
                </a:solidFill>
                <a:latin typeface="Agrandir"/>
                <a:ea typeface="Agrandir"/>
                <a:cs typeface="Agrandir"/>
                <a:sym typeface="Agrandir"/>
              </a:rPr>
              <a:t> Tamaño pequeño y alto rendimiento.</a:t>
            </a:r>
          </a:p>
          <a:p>
            <a:pPr algn="just" marL="471535" indent="-235768" lvl="1">
              <a:lnSpc>
                <a:spcPts val="3057"/>
              </a:lnSpc>
              <a:buAutoNum type="arabicPeriod" startAt="1"/>
            </a:pPr>
            <a:r>
              <a:rPr lang="en-US" b="true" sz="2184">
                <a:solidFill>
                  <a:srgbClr val="FFFFFF"/>
                </a:solidFill>
                <a:latin typeface="Agrandir Bold"/>
                <a:ea typeface="Agrandir Bold"/>
                <a:cs typeface="Agrandir Bold"/>
                <a:sym typeface="Agrandir Bold"/>
              </a:rPr>
              <a:t>Comunidad activa:</a:t>
            </a:r>
            <a:r>
              <a:rPr lang="en-US" sz="2184">
                <a:solidFill>
                  <a:srgbClr val="FFFFFF"/>
                </a:solidFill>
                <a:latin typeface="Agrandir"/>
                <a:ea typeface="Agrandir"/>
                <a:cs typeface="Agrandir"/>
                <a:sym typeface="Agrandir"/>
              </a:rPr>
              <a:t> Muchos recursos y soporte disponible.</a:t>
            </a:r>
          </a:p>
          <a:p>
            <a:pPr algn="just" marL="471535" indent="-235768" lvl="1">
              <a:lnSpc>
                <a:spcPts val="3057"/>
              </a:lnSpc>
              <a:buAutoNum type="arabicPeriod" startAt="1"/>
            </a:pPr>
            <a:r>
              <a:rPr lang="en-US" b="true" sz="2184">
                <a:solidFill>
                  <a:srgbClr val="FFFFFF"/>
                </a:solidFill>
                <a:latin typeface="Agrandir Bold"/>
                <a:ea typeface="Agrandir Bold"/>
                <a:cs typeface="Agrandir Bold"/>
                <a:sym typeface="Agrandir Bold"/>
              </a:rPr>
              <a:t>Componentes reutilizables:</a:t>
            </a:r>
            <a:r>
              <a:rPr lang="en-US" sz="2184">
                <a:solidFill>
                  <a:srgbClr val="FFFFFF"/>
                </a:solidFill>
                <a:latin typeface="Agrandir"/>
                <a:ea typeface="Agrandir"/>
                <a:cs typeface="Agrandir"/>
                <a:sym typeface="Agrandir"/>
              </a:rPr>
              <a:t> Mejora la organización y mantenibilidad del código.</a:t>
            </a:r>
          </a:p>
          <a:p>
            <a:pPr algn="just" marL="471535" indent="-235768" lvl="1">
              <a:lnSpc>
                <a:spcPts val="3057"/>
              </a:lnSpc>
              <a:buAutoNum type="arabicPeriod" startAt="1"/>
            </a:pPr>
            <a:r>
              <a:rPr lang="en-US" b="true" sz="2184">
                <a:solidFill>
                  <a:srgbClr val="FFFFFF"/>
                </a:solidFill>
                <a:latin typeface="Agrandir Bold"/>
                <a:ea typeface="Agrandir Bold"/>
                <a:cs typeface="Agrandir Bold"/>
                <a:sym typeface="Agrandir Bold"/>
              </a:rPr>
              <a:t>Desarrollo progresivo:</a:t>
            </a:r>
            <a:r>
              <a:rPr lang="en-US" sz="2184">
                <a:solidFill>
                  <a:srgbClr val="FFFFFF"/>
                </a:solidFill>
                <a:latin typeface="Agrandir"/>
                <a:ea typeface="Agrandir"/>
                <a:cs typeface="Agrandir"/>
                <a:sym typeface="Agrandir"/>
              </a:rPr>
              <a:t> Adopción incremental de características.</a:t>
            </a:r>
          </a:p>
          <a:p>
            <a:pPr algn="just" marL="471535" indent="-235768" lvl="1">
              <a:lnSpc>
                <a:spcPts val="3057"/>
              </a:lnSpc>
              <a:buAutoNum type="arabicPeriod" startAt="1"/>
            </a:pPr>
            <a:r>
              <a:rPr lang="en-US" b="true" sz="2184">
                <a:solidFill>
                  <a:srgbClr val="FFFFFF"/>
                </a:solidFill>
                <a:latin typeface="Agrandir Bold"/>
                <a:ea typeface="Agrandir Bold"/>
                <a:cs typeface="Agrandir Bold"/>
                <a:sym typeface="Agrandir Bold"/>
              </a:rPr>
              <a:t>Herramientas útiles</a:t>
            </a:r>
            <a:r>
              <a:rPr lang="en-US" sz="2184">
                <a:solidFill>
                  <a:srgbClr val="FFFFFF"/>
                </a:solidFill>
                <a:latin typeface="Agrandir"/>
                <a:ea typeface="Agrandir"/>
                <a:cs typeface="Agrandir"/>
                <a:sym typeface="Agrandir"/>
              </a:rPr>
              <a:t>: Vue CLI, Vue Devtools y Vue Router.</a:t>
            </a:r>
          </a:p>
          <a:p>
            <a:pPr algn="just">
              <a:lnSpc>
                <a:spcPts val="3057"/>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8261393" y="1832168"/>
            <a:ext cx="3640020" cy="2107739"/>
            <a:chOff x="0" y="0"/>
            <a:chExt cx="958688" cy="555125"/>
          </a:xfrm>
        </p:grpSpPr>
        <p:sp>
          <p:nvSpPr>
            <p:cNvPr name="Freeform 6" id="6"/>
            <p:cNvSpPr/>
            <p:nvPr/>
          </p:nvSpPr>
          <p:spPr>
            <a:xfrm flipH="false" flipV="false" rot="0">
              <a:off x="0" y="0"/>
              <a:ext cx="958688" cy="555125"/>
            </a:xfrm>
            <a:custGeom>
              <a:avLst/>
              <a:gdLst/>
              <a:ahLst/>
              <a:cxnLst/>
              <a:rect r="r" b="b" t="t" l="l"/>
              <a:pathLst>
                <a:path h="555125" w="958688">
                  <a:moveTo>
                    <a:pt x="0" y="0"/>
                  </a:moveTo>
                  <a:lnTo>
                    <a:pt x="958688" y="0"/>
                  </a:lnTo>
                  <a:lnTo>
                    <a:pt x="958688" y="555125"/>
                  </a:lnTo>
                  <a:lnTo>
                    <a:pt x="0" y="555125"/>
                  </a:lnTo>
                  <a:close/>
                </a:path>
              </a:pathLst>
            </a:custGeom>
            <a:solidFill>
              <a:srgbClr val="5CE1E6"/>
            </a:solidFill>
          </p:spPr>
        </p:sp>
        <p:sp>
          <p:nvSpPr>
            <p:cNvPr name="TextBox 7" id="7"/>
            <p:cNvSpPr txBox="true"/>
            <p:nvPr/>
          </p:nvSpPr>
          <p:spPr>
            <a:xfrm>
              <a:off x="0" y="-85725"/>
              <a:ext cx="958688" cy="640850"/>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8743329" y="2241901"/>
            <a:ext cx="7637161" cy="3396013"/>
            <a:chOff x="0" y="0"/>
            <a:chExt cx="1841679" cy="818938"/>
          </a:xfrm>
        </p:grpSpPr>
        <p:sp>
          <p:nvSpPr>
            <p:cNvPr name="Freeform 9" id="9"/>
            <p:cNvSpPr/>
            <p:nvPr/>
          </p:nvSpPr>
          <p:spPr>
            <a:xfrm flipH="false" flipV="false" rot="0">
              <a:off x="0" y="0"/>
              <a:ext cx="1841679" cy="818938"/>
            </a:xfrm>
            <a:custGeom>
              <a:avLst/>
              <a:gdLst/>
              <a:ahLst/>
              <a:cxnLst/>
              <a:rect r="r" b="b" t="t" l="l"/>
              <a:pathLst>
                <a:path h="818938" w="1841679">
                  <a:moveTo>
                    <a:pt x="0" y="0"/>
                  </a:moveTo>
                  <a:lnTo>
                    <a:pt x="1841679" y="0"/>
                  </a:lnTo>
                  <a:lnTo>
                    <a:pt x="1841679" y="818938"/>
                  </a:lnTo>
                  <a:lnTo>
                    <a:pt x="0" y="818938"/>
                  </a:lnTo>
                  <a:close/>
                </a:path>
              </a:pathLst>
            </a:custGeom>
            <a:blipFill>
              <a:blip r:embed="rId7"/>
              <a:stretch>
                <a:fillRect l="0" t="-39676" r="0" b="-10247"/>
              </a:stretch>
            </a:blipFill>
            <a:ln cap="sq">
              <a:noFill/>
              <a:prstDash val="solid"/>
              <a:miter/>
            </a:ln>
          </p:spPr>
        </p:sp>
      </p:grpSp>
      <p:grpSp>
        <p:nvGrpSpPr>
          <p:cNvPr name="Group 10" id="10"/>
          <p:cNvGrpSpPr/>
          <p:nvPr/>
        </p:nvGrpSpPr>
        <p:grpSpPr>
          <a:xfrm rot="0">
            <a:off x="8743329" y="5862287"/>
            <a:ext cx="7637161" cy="3396013"/>
            <a:chOff x="0" y="0"/>
            <a:chExt cx="1841679" cy="818938"/>
          </a:xfrm>
        </p:grpSpPr>
        <p:sp>
          <p:nvSpPr>
            <p:cNvPr name="Freeform 11" id="11"/>
            <p:cNvSpPr/>
            <p:nvPr/>
          </p:nvSpPr>
          <p:spPr>
            <a:xfrm flipH="false" flipV="false" rot="0">
              <a:off x="0" y="0"/>
              <a:ext cx="1841679" cy="818938"/>
            </a:xfrm>
            <a:custGeom>
              <a:avLst/>
              <a:gdLst/>
              <a:ahLst/>
              <a:cxnLst/>
              <a:rect r="r" b="b" t="t" l="l"/>
              <a:pathLst>
                <a:path h="818938" w="1841679">
                  <a:moveTo>
                    <a:pt x="0" y="0"/>
                  </a:moveTo>
                  <a:lnTo>
                    <a:pt x="1841679" y="0"/>
                  </a:lnTo>
                  <a:lnTo>
                    <a:pt x="1841679" y="818938"/>
                  </a:lnTo>
                  <a:lnTo>
                    <a:pt x="0" y="818938"/>
                  </a:lnTo>
                  <a:close/>
                </a:path>
              </a:pathLst>
            </a:custGeom>
            <a:blipFill>
              <a:blip r:embed="rId8"/>
              <a:stretch>
                <a:fillRect l="0" t="-43072" r="0" b="-6851"/>
              </a:stretch>
            </a:blipFill>
            <a:ln cap="sq">
              <a:noFill/>
              <a:prstDash val="solid"/>
              <a:miter/>
            </a:ln>
          </p:spPr>
        </p:sp>
      </p:grpSp>
      <p:grpSp>
        <p:nvGrpSpPr>
          <p:cNvPr name="Group 12" id="12"/>
          <p:cNvGrpSpPr/>
          <p:nvPr/>
        </p:nvGrpSpPr>
        <p:grpSpPr>
          <a:xfrm rot="0">
            <a:off x="8261393" y="8505285"/>
            <a:ext cx="1509560" cy="1276860"/>
            <a:chOff x="0" y="0"/>
            <a:chExt cx="397580" cy="336292"/>
          </a:xfrm>
        </p:grpSpPr>
        <p:sp>
          <p:nvSpPr>
            <p:cNvPr name="Freeform 13" id="13"/>
            <p:cNvSpPr/>
            <p:nvPr/>
          </p:nvSpPr>
          <p:spPr>
            <a:xfrm flipH="false" flipV="false" rot="0">
              <a:off x="0" y="0"/>
              <a:ext cx="397580" cy="336292"/>
            </a:xfrm>
            <a:custGeom>
              <a:avLst/>
              <a:gdLst/>
              <a:ahLst/>
              <a:cxnLst/>
              <a:rect r="r" b="b" t="t" l="l"/>
              <a:pathLst>
                <a:path h="336292" w="397580">
                  <a:moveTo>
                    <a:pt x="0" y="0"/>
                  </a:moveTo>
                  <a:lnTo>
                    <a:pt x="397580" y="0"/>
                  </a:lnTo>
                  <a:lnTo>
                    <a:pt x="397580" y="336292"/>
                  </a:lnTo>
                  <a:lnTo>
                    <a:pt x="0" y="336292"/>
                  </a:lnTo>
                  <a:close/>
                </a:path>
              </a:pathLst>
            </a:custGeom>
            <a:solidFill>
              <a:srgbClr val="5CE1E6"/>
            </a:solidFill>
          </p:spPr>
        </p:sp>
        <p:sp>
          <p:nvSpPr>
            <p:cNvPr name="TextBox 14" id="14"/>
            <p:cNvSpPr txBox="true"/>
            <p:nvPr/>
          </p:nvSpPr>
          <p:spPr>
            <a:xfrm>
              <a:off x="0" y="-85725"/>
              <a:ext cx="397580" cy="422017"/>
            </a:xfrm>
            <a:prstGeom prst="rect">
              <a:avLst/>
            </a:prstGeom>
          </p:spPr>
          <p:txBody>
            <a:bodyPr anchor="ctr" rtlCol="false" tIns="50800" lIns="50800" bIns="50800" rIns="50800"/>
            <a:lstStyle/>
            <a:p>
              <a:pPr algn="ctr">
                <a:lnSpc>
                  <a:spcPts val="2239"/>
                </a:lnSpc>
              </a:pPr>
            </a:p>
          </p:txBody>
        </p:sp>
      </p:grpSp>
      <p:sp>
        <p:nvSpPr>
          <p:cNvPr name="TextBox 15" id="15"/>
          <p:cNvSpPr txBox="true"/>
          <p:nvPr/>
        </p:nvSpPr>
        <p:spPr>
          <a:xfrm rot="0">
            <a:off x="14327317"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content</a:t>
            </a:r>
          </a:p>
        </p:txBody>
      </p:sp>
      <p:sp>
        <p:nvSpPr>
          <p:cNvPr name="TextBox 16" id="16"/>
          <p:cNvSpPr txBox="true"/>
          <p:nvPr/>
        </p:nvSpPr>
        <p:spPr>
          <a:xfrm rot="0">
            <a:off x="16234639"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others</a:t>
            </a:r>
          </a:p>
        </p:txBody>
      </p:sp>
      <p:sp>
        <p:nvSpPr>
          <p:cNvPr name="TextBox 17" id="17"/>
          <p:cNvSpPr txBox="true"/>
          <p:nvPr/>
        </p:nvSpPr>
        <p:spPr>
          <a:xfrm rot="0">
            <a:off x="111269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Home</a:t>
            </a:r>
          </a:p>
        </p:txBody>
      </p:sp>
      <p:sp>
        <p:nvSpPr>
          <p:cNvPr name="TextBox 18" id="18"/>
          <p:cNvSpPr txBox="true"/>
          <p:nvPr/>
        </p:nvSpPr>
        <p:spPr>
          <a:xfrm rot="0">
            <a:off x="126128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about</a:t>
            </a:r>
          </a:p>
        </p:txBody>
      </p:sp>
      <p:sp>
        <p:nvSpPr>
          <p:cNvPr name="TextBox 19" id="19"/>
          <p:cNvSpPr txBox="true"/>
          <p:nvPr/>
        </p:nvSpPr>
        <p:spPr>
          <a:xfrm rot="0">
            <a:off x="1023407" y="2602235"/>
            <a:ext cx="6557487" cy="1066692"/>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DESVENTAJAS</a:t>
            </a:r>
          </a:p>
        </p:txBody>
      </p:sp>
      <p:sp>
        <p:nvSpPr>
          <p:cNvPr name="TextBox 20" id="20"/>
          <p:cNvSpPr txBox="true"/>
          <p:nvPr/>
        </p:nvSpPr>
        <p:spPr>
          <a:xfrm rot="0">
            <a:off x="185013" y="3835133"/>
            <a:ext cx="7012596" cy="5770136"/>
          </a:xfrm>
          <a:prstGeom prst="rect">
            <a:avLst/>
          </a:prstGeom>
        </p:spPr>
        <p:txBody>
          <a:bodyPr anchor="t" rtlCol="false" tIns="0" lIns="0" bIns="0" rIns="0">
            <a:spAutoFit/>
          </a:bodyPr>
          <a:lstStyle/>
          <a:p>
            <a:pPr algn="just" marL="471536" indent="-235768" lvl="1">
              <a:lnSpc>
                <a:spcPts val="3057"/>
              </a:lnSpc>
              <a:buAutoNum type="arabicPeriod" startAt="1"/>
            </a:pPr>
            <a:r>
              <a:rPr lang="en-US" sz="2184">
                <a:solidFill>
                  <a:srgbClr val="FFFFFF"/>
                </a:solidFill>
                <a:latin typeface="Agrandir"/>
                <a:ea typeface="Agrandir"/>
                <a:cs typeface="Agrandir"/>
                <a:sym typeface="Agrandir"/>
              </a:rPr>
              <a:t>Bar</a:t>
            </a:r>
            <a:r>
              <a:rPr lang="en-US" sz="2184">
                <a:solidFill>
                  <a:srgbClr val="FFFFFF"/>
                </a:solidFill>
                <a:latin typeface="Agrandir"/>
                <a:ea typeface="Agrandir"/>
                <a:cs typeface="Agrandir"/>
                <a:sym typeface="Agrandir"/>
              </a:rPr>
              <a:t>rera del lenguaje: Mucha documentación y recursos están en chino, lo que puede dificultar el acceso a información actualizada</a:t>
            </a:r>
          </a:p>
          <a:p>
            <a:pPr algn="just">
              <a:lnSpc>
                <a:spcPts val="3057"/>
              </a:lnSpc>
            </a:pPr>
          </a:p>
          <a:p>
            <a:pPr algn="just" marL="471536" indent="-235768" lvl="1">
              <a:lnSpc>
                <a:spcPts val="3057"/>
              </a:lnSpc>
              <a:buAutoNum type="arabicPeriod" startAt="1"/>
            </a:pPr>
            <a:r>
              <a:rPr lang="en-US" sz="2184">
                <a:solidFill>
                  <a:srgbClr val="FFFFFF"/>
                </a:solidFill>
                <a:latin typeface="Agrandir"/>
                <a:ea typeface="Agrandir"/>
                <a:cs typeface="Agrandir"/>
                <a:sym typeface="Agrandir"/>
              </a:rPr>
              <a:t>Escalabilidad: Puede no ser la mejor opción para proyectos muy grandes debido a su comunidad y soporte más pequeños en comparación con otros frameworks</a:t>
            </a:r>
          </a:p>
          <a:p>
            <a:pPr algn="just">
              <a:lnSpc>
                <a:spcPts val="3057"/>
              </a:lnSpc>
            </a:pPr>
          </a:p>
          <a:p>
            <a:pPr algn="just">
              <a:lnSpc>
                <a:spcPts val="3057"/>
              </a:lnSpc>
            </a:pPr>
          </a:p>
          <a:p>
            <a:pPr algn="just" marL="471536" indent="-235768" lvl="1">
              <a:lnSpc>
                <a:spcPts val="3057"/>
              </a:lnSpc>
              <a:buAutoNum type="arabicPeriod" startAt="1"/>
            </a:pPr>
            <a:r>
              <a:rPr lang="en-US" sz="2184">
                <a:solidFill>
                  <a:srgbClr val="FFFFFF"/>
                </a:solidFill>
                <a:latin typeface="Agrandir"/>
                <a:ea typeface="Agrandir"/>
                <a:cs typeface="Agrandir"/>
                <a:sym typeface="Agrandir"/>
              </a:rPr>
              <a:t>Flexibilidad excesiva: La flexibilidad de Vue.js puede llevar a inconsistencias en el código si no se siguen buenas prácticas</a:t>
            </a:r>
          </a:p>
          <a:p>
            <a:pPr algn="just">
              <a:lnSpc>
                <a:spcPts val="3057"/>
              </a:lnSpc>
            </a:pPr>
          </a:p>
          <a:p>
            <a:pPr algn="just">
              <a:lnSpc>
                <a:spcPts val="3057"/>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8530466" y="2535560"/>
            <a:ext cx="8024986" cy="5985649"/>
            <a:chOff x="0" y="0"/>
            <a:chExt cx="2113577" cy="1576467"/>
          </a:xfrm>
        </p:grpSpPr>
        <p:sp>
          <p:nvSpPr>
            <p:cNvPr name="Freeform 6" id="6"/>
            <p:cNvSpPr/>
            <p:nvPr/>
          </p:nvSpPr>
          <p:spPr>
            <a:xfrm flipH="false" flipV="false" rot="0">
              <a:off x="0" y="0"/>
              <a:ext cx="2113577" cy="1576467"/>
            </a:xfrm>
            <a:custGeom>
              <a:avLst/>
              <a:gdLst/>
              <a:ahLst/>
              <a:cxnLst/>
              <a:rect r="r" b="b" t="t" l="l"/>
              <a:pathLst>
                <a:path h="1576467" w="2113577">
                  <a:moveTo>
                    <a:pt x="0" y="0"/>
                  </a:moveTo>
                  <a:lnTo>
                    <a:pt x="2113577" y="0"/>
                  </a:lnTo>
                  <a:lnTo>
                    <a:pt x="2113577" y="1576467"/>
                  </a:lnTo>
                  <a:lnTo>
                    <a:pt x="0" y="1576467"/>
                  </a:lnTo>
                  <a:close/>
                </a:path>
              </a:pathLst>
            </a:custGeom>
            <a:solidFill>
              <a:srgbClr val="76F9FE"/>
            </a:solidFill>
          </p:spPr>
        </p:sp>
        <p:sp>
          <p:nvSpPr>
            <p:cNvPr name="TextBox 7" id="7"/>
            <p:cNvSpPr txBox="true"/>
            <p:nvPr/>
          </p:nvSpPr>
          <p:spPr>
            <a:xfrm>
              <a:off x="0" y="-85725"/>
              <a:ext cx="2113577" cy="1662192"/>
            </a:xfrm>
            <a:prstGeom prst="rect">
              <a:avLst/>
            </a:prstGeom>
          </p:spPr>
          <p:txBody>
            <a:bodyPr anchor="ctr" rtlCol="false" tIns="50800" lIns="50800" bIns="50800" rIns="50800"/>
            <a:lstStyle/>
            <a:p>
              <a:pPr algn="ctr">
                <a:lnSpc>
                  <a:spcPts val="2239"/>
                </a:lnSpc>
              </a:pPr>
            </a:p>
          </p:txBody>
        </p:sp>
      </p:grpSp>
      <p:sp>
        <p:nvSpPr>
          <p:cNvPr name="TextBox 8" id="8"/>
          <p:cNvSpPr txBox="true"/>
          <p:nvPr/>
        </p:nvSpPr>
        <p:spPr>
          <a:xfrm rot="0">
            <a:off x="14327317"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content</a:t>
            </a:r>
          </a:p>
        </p:txBody>
      </p:sp>
      <p:sp>
        <p:nvSpPr>
          <p:cNvPr name="TextBox 9" id="9"/>
          <p:cNvSpPr txBox="true"/>
          <p:nvPr/>
        </p:nvSpPr>
        <p:spPr>
          <a:xfrm rot="0">
            <a:off x="16234639"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others</a:t>
            </a:r>
          </a:p>
        </p:txBody>
      </p:sp>
      <p:sp>
        <p:nvSpPr>
          <p:cNvPr name="TextBox 10" id="10"/>
          <p:cNvSpPr txBox="true"/>
          <p:nvPr/>
        </p:nvSpPr>
        <p:spPr>
          <a:xfrm rot="0">
            <a:off x="111269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Home</a:t>
            </a:r>
          </a:p>
        </p:txBody>
      </p:sp>
      <p:sp>
        <p:nvSpPr>
          <p:cNvPr name="TextBox 11" id="11"/>
          <p:cNvSpPr txBox="true"/>
          <p:nvPr/>
        </p:nvSpPr>
        <p:spPr>
          <a:xfrm rot="0">
            <a:off x="126128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about</a:t>
            </a:r>
          </a:p>
        </p:txBody>
      </p:sp>
      <p:sp>
        <p:nvSpPr>
          <p:cNvPr name="TextBox 12" id="12"/>
          <p:cNvSpPr txBox="true"/>
          <p:nvPr/>
        </p:nvSpPr>
        <p:spPr>
          <a:xfrm rot="0">
            <a:off x="1023407" y="2602235"/>
            <a:ext cx="6557487" cy="1066692"/>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COMUNIDAD</a:t>
            </a:r>
          </a:p>
        </p:txBody>
      </p:sp>
      <p:sp>
        <p:nvSpPr>
          <p:cNvPr name="TextBox 13" id="13"/>
          <p:cNvSpPr txBox="true"/>
          <p:nvPr/>
        </p:nvSpPr>
        <p:spPr>
          <a:xfrm rot="0">
            <a:off x="191643" y="3744543"/>
            <a:ext cx="7588191" cy="4673897"/>
          </a:xfrm>
          <a:prstGeom prst="rect">
            <a:avLst/>
          </a:prstGeom>
        </p:spPr>
        <p:txBody>
          <a:bodyPr anchor="t" rtlCol="false" tIns="0" lIns="0" bIns="0" rIns="0">
            <a:spAutoFit/>
          </a:bodyPr>
          <a:lstStyle/>
          <a:p>
            <a:pPr algn="just" marL="510239" indent="-255119" lvl="1">
              <a:lnSpc>
                <a:spcPts val="3308"/>
              </a:lnSpc>
              <a:buAutoNum type="arabicPeriod" startAt="1"/>
            </a:pPr>
            <a:r>
              <a:rPr lang="en-US" b="true" sz="2363">
                <a:solidFill>
                  <a:srgbClr val="FFFFFF"/>
                </a:solidFill>
                <a:latin typeface="Agrandir Bold"/>
                <a:ea typeface="Agrandir Bold"/>
                <a:cs typeface="Agrandir Bold"/>
                <a:sym typeface="Agrandir Bold"/>
              </a:rPr>
              <a:t>F</a:t>
            </a:r>
            <a:r>
              <a:rPr lang="en-US" b="true" sz="2363">
                <a:solidFill>
                  <a:srgbClr val="FFFFFF"/>
                </a:solidFill>
                <a:latin typeface="Agrandir Bold"/>
                <a:ea typeface="Agrandir Bold"/>
                <a:cs typeface="Agrandir Bold"/>
                <a:sym typeface="Agrandir Bold"/>
              </a:rPr>
              <a:t>oros y chats:</a:t>
            </a:r>
            <a:r>
              <a:rPr lang="en-US" sz="2363">
                <a:solidFill>
                  <a:srgbClr val="FFFFFF"/>
                </a:solidFill>
                <a:latin typeface="Agrandir"/>
                <a:ea typeface="Agrandir"/>
                <a:cs typeface="Agrandir"/>
                <a:sym typeface="Agrandir"/>
              </a:rPr>
              <a:t> Espacios para hacer preguntas y obtener respuestas sobre Vue y su ecosistema.</a:t>
            </a:r>
          </a:p>
          <a:p>
            <a:pPr algn="just" marL="510239" indent="-255119" lvl="1">
              <a:lnSpc>
                <a:spcPts val="3308"/>
              </a:lnSpc>
              <a:buAutoNum type="arabicPeriod" startAt="1"/>
            </a:pPr>
            <a:r>
              <a:rPr lang="en-US" b="true" sz="2363">
                <a:solidFill>
                  <a:srgbClr val="FFFFFF"/>
                </a:solidFill>
                <a:latin typeface="Agrandir Bold"/>
                <a:ea typeface="Agrandir Bold"/>
                <a:cs typeface="Agrandir Bold"/>
                <a:sym typeface="Agrandir Bold"/>
              </a:rPr>
              <a:t>Meetups:</a:t>
            </a:r>
            <a:r>
              <a:rPr lang="en-US" sz="2363">
                <a:solidFill>
                  <a:srgbClr val="FFFFFF"/>
                </a:solidFill>
                <a:latin typeface="Agrandir"/>
                <a:ea typeface="Agrandir"/>
                <a:cs typeface="Agrandir"/>
                <a:sym typeface="Agrandir"/>
              </a:rPr>
              <a:t> Encuentros locales para entusiastas de Vue.js.</a:t>
            </a:r>
          </a:p>
          <a:p>
            <a:pPr algn="just" marL="510239" indent="-255119" lvl="1">
              <a:lnSpc>
                <a:spcPts val="3308"/>
              </a:lnSpc>
              <a:buAutoNum type="arabicPeriod" startAt="1"/>
            </a:pPr>
            <a:r>
              <a:rPr lang="en-US" b="true" sz="2363">
                <a:solidFill>
                  <a:srgbClr val="FFFFFF"/>
                </a:solidFill>
                <a:latin typeface="Agrandir Bold"/>
                <a:ea typeface="Agrandir Bold"/>
                <a:cs typeface="Agrandir Bold"/>
                <a:sym typeface="Agrandir Bold"/>
              </a:rPr>
              <a:t>GitHub:</a:t>
            </a:r>
            <a:r>
              <a:rPr lang="en-US" sz="2363">
                <a:solidFill>
                  <a:srgbClr val="FFFFFF"/>
                </a:solidFill>
                <a:latin typeface="Agrandir"/>
                <a:ea typeface="Agrandir"/>
                <a:cs typeface="Agrandir"/>
                <a:sym typeface="Agrandir"/>
              </a:rPr>
              <a:t> Lugar para reportar errores, solicitar funciones y contribuir con código.</a:t>
            </a:r>
          </a:p>
          <a:p>
            <a:pPr algn="just" marL="510239" indent="-255119" lvl="1">
              <a:lnSpc>
                <a:spcPts val="3308"/>
              </a:lnSpc>
              <a:buAutoNum type="arabicPeriod" startAt="1"/>
            </a:pPr>
            <a:r>
              <a:rPr lang="en-US" b="true" sz="2363">
                <a:solidFill>
                  <a:srgbClr val="FFFFFF"/>
                </a:solidFill>
                <a:latin typeface="Agrandir Bold"/>
                <a:ea typeface="Agrandir Bold"/>
                <a:cs typeface="Agrandir Bold"/>
                <a:sym typeface="Agrandir Bold"/>
              </a:rPr>
              <a:t>Recursos educativos:</a:t>
            </a:r>
            <a:r>
              <a:rPr lang="en-US" sz="2363">
                <a:solidFill>
                  <a:srgbClr val="FFFFFF"/>
                </a:solidFill>
                <a:latin typeface="Agrandir"/>
                <a:ea typeface="Agrandir"/>
                <a:cs typeface="Agrandir"/>
                <a:sym typeface="Agrandir"/>
              </a:rPr>
              <a:t> Documentación, tutoriales y guías disponibles en varios idiomas.</a:t>
            </a:r>
          </a:p>
          <a:p>
            <a:pPr algn="just" marL="510239" indent="-255119" lvl="1">
              <a:lnSpc>
                <a:spcPts val="3308"/>
              </a:lnSpc>
              <a:buAutoNum type="arabicPeriod" startAt="1"/>
            </a:pPr>
            <a:r>
              <a:rPr lang="en-US" b="true" sz="2363">
                <a:solidFill>
                  <a:srgbClr val="FFFFFF"/>
                </a:solidFill>
                <a:latin typeface="Agrandir Bold"/>
                <a:ea typeface="Agrandir Bold"/>
                <a:cs typeface="Agrandir Bold"/>
                <a:sym typeface="Agrandir Bold"/>
              </a:rPr>
              <a:t>Soporte activo: </a:t>
            </a:r>
            <a:r>
              <a:rPr lang="en-US" sz="2363">
                <a:solidFill>
                  <a:srgbClr val="FFFFFF"/>
                </a:solidFill>
                <a:latin typeface="Agrandir"/>
                <a:ea typeface="Agrandir"/>
                <a:cs typeface="Agrandir"/>
                <a:sym typeface="Agrandir"/>
              </a:rPr>
              <a:t>Comunidad global con muchos recursos y soporte disponible.</a:t>
            </a:r>
          </a:p>
          <a:p>
            <a:pPr algn="just">
              <a:lnSpc>
                <a:spcPts val="3308"/>
              </a:lnSpc>
              <a:spcBef>
                <a:spcPct val="0"/>
              </a:spcBef>
            </a:pPr>
          </a:p>
        </p:txBody>
      </p:sp>
      <p:pic>
        <p:nvPicPr>
          <p:cNvPr name="Picture 14" id="14"/>
          <p:cNvPicPr>
            <a:picLocks noChangeAspect="true"/>
          </p:cNvPicPr>
          <p:nvPr/>
        </p:nvPicPr>
        <p:blipFill>
          <a:blip r:embed="rId7"/>
          <a:stretch>
            <a:fillRect/>
          </a:stretch>
        </p:blipFill>
        <p:spPr>
          <a:xfrm rot="0">
            <a:off x="8369148" y="2262712"/>
            <a:ext cx="8447285" cy="6505467"/>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9144000" y="2740101"/>
            <a:ext cx="7759617" cy="5709218"/>
            <a:chOff x="0" y="0"/>
            <a:chExt cx="1574013" cy="1158096"/>
          </a:xfrm>
        </p:grpSpPr>
        <p:sp>
          <p:nvSpPr>
            <p:cNvPr name="Freeform 6" id="6"/>
            <p:cNvSpPr/>
            <p:nvPr/>
          </p:nvSpPr>
          <p:spPr>
            <a:xfrm flipH="false" flipV="false" rot="0">
              <a:off x="0" y="0"/>
              <a:ext cx="1574013" cy="1158096"/>
            </a:xfrm>
            <a:custGeom>
              <a:avLst/>
              <a:gdLst/>
              <a:ahLst/>
              <a:cxnLst/>
              <a:rect r="r" b="b" t="t" l="l"/>
              <a:pathLst>
                <a:path h="1158096" w="1574013">
                  <a:moveTo>
                    <a:pt x="0" y="0"/>
                  </a:moveTo>
                  <a:lnTo>
                    <a:pt x="1574013" y="0"/>
                  </a:lnTo>
                  <a:lnTo>
                    <a:pt x="1574013" y="1158096"/>
                  </a:lnTo>
                  <a:lnTo>
                    <a:pt x="0" y="1158096"/>
                  </a:lnTo>
                  <a:close/>
                </a:path>
              </a:pathLst>
            </a:custGeom>
            <a:blipFill>
              <a:blip r:embed="rId7"/>
              <a:stretch>
                <a:fillRect l="-5216" t="0" r="-5216" b="0"/>
              </a:stretch>
            </a:blipFill>
            <a:ln cap="sq">
              <a:noFill/>
              <a:prstDash val="solid"/>
              <a:miter/>
            </a:ln>
          </p:spPr>
        </p:sp>
      </p:grpSp>
      <p:grpSp>
        <p:nvGrpSpPr>
          <p:cNvPr name="Group 7" id="7"/>
          <p:cNvGrpSpPr/>
          <p:nvPr/>
        </p:nvGrpSpPr>
        <p:grpSpPr>
          <a:xfrm rot="0">
            <a:off x="0" y="2740101"/>
            <a:ext cx="1023407" cy="5709218"/>
            <a:chOff x="0" y="0"/>
            <a:chExt cx="269539" cy="1503662"/>
          </a:xfrm>
        </p:grpSpPr>
        <p:sp>
          <p:nvSpPr>
            <p:cNvPr name="Freeform 8" id="8"/>
            <p:cNvSpPr/>
            <p:nvPr/>
          </p:nvSpPr>
          <p:spPr>
            <a:xfrm flipH="false" flipV="false" rot="0">
              <a:off x="0" y="0"/>
              <a:ext cx="269539" cy="1503662"/>
            </a:xfrm>
            <a:custGeom>
              <a:avLst/>
              <a:gdLst/>
              <a:ahLst/>
              <a:cxnLst/>
              <a:rect r="r" b="b" t="t" l="l"/>
              <a:pathLst>
                <a:path h="1503662" w="269539">
                  <a:moveTo>
                    <a:pt x="0" y="0"/>
                  </a:moveTo>
                  <a:lnTo>
                    <a:pt x="269539" y="0"/>
                  </a:lnTo>
                  <a:lnTo>
                    <a:pt x="269539" y="1503662"/>
                  </a:lnTo>
                  <a:lnTo>
                    <a:pt x="0" y="1503662"/>
                  </a:lnTo>
                  <a:close/>
                </a:path>
              </a:pathLst>
            </a:custGeom>
            <a:solidFill>
              <a:srgbClr val="5CE1E6"/>
            </a:solidFill>
          </p:spPr>
        </p:sp>
        <p:sp>
          <p:nvSpPr>
            <p:cNvPr name="TextBox 9" id="9"/>
            <p:cNvSpPr txBox="true"/>
            <p:nvPr/>
          </p:nvSpPr>
          <p:spPr>
            <a:xfrm>
              <a:off x="0" y="-85725"/>
              <a:ext cx="269539" cy="1589387"/>
            </a:xfrm>
            <a:prstGeom prst="rect">
              <a:avLst/>
            </a:prstGeom>
          </p:spPr>
          <p:txBody>
            <a:bodyPr anchor="ctr" rtlCol="false" tIns="50800" lIns="50800" bIns="50800" rIns="50800"/>
            <a:lstStyle/>
            <a:p>
              <a:pPr algn="ctr">
                <a:lnSpc>
                  <a:spcPts val="2239"/>
                </a:lnSpc>
              </a:pPr>
            </a:p>
          </p:txBody>
        </p:sp>
      </p:grpSp>
      <p:sp>
        <p:nvSpPr>
          <p:cNvPr name="TextBox 10" id="10"/>
          <p:cNvSpPr txBox="true"/>
          <p:nvPr/>
        </p:nvSpPr>
        <p:spPr>
          <a:xfrm rot="0">
            <a:off x="14327317"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content</a:t>
            </a:r>
          </a:p>
        </p:txBody>
      </p:sp>
      <p:sp>
        <p:nvSpPr>
          <p:cNvPr name="TextBox 11" id="11"/>
          <p:cNvSpPr txBox="true"/>
          <p:nvPr/>
        </p:nvSpPr>
        <p:spPr>
          <a:xfrm rot="0">
            <a:off x="16234639"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others</a:t>
            </a:r>
          </a:p>
        </p:txBody>
      </p:sp>
      <p:sp>
        <p:nvSpPr>
          <p:cNvPr name="TextBox 12" id="12"/>
          <p:cNvSpPr txBox="true"/>
          <p:nvPr/>
        </p:nvSpPr>
        <p:spPr>
          <a:xfrm rot="0">
            <a:off x="111269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Home</a:t>
            </a:r>
          </a:p>
        </p:txBody>
      </p:sp>
      <p:sp>
        <p:nvSpPr>
          <p:cNvPr name="TextBox 13" id="13"/>
          <p:cNvSpPr txBox="true"/>
          <p:nvPr/>
        </p:nvSpPr>
        <p:spPr>
          <a:xfrm rot="0">
            <a:off x="126128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about</a:t>
            </a:r>
          </a:p>
        </p:txBody>
      </p:sp>
      <p:sp>
        <p:nvSpPr>
          <p:cNvPr name="TextBox 14" id="14"/>
          <p:cNvSpPr txBox="true"/>
          <p:nvPr/>
        </p:nvSpPr>
        <p:spPr>
          <a:xfrm rot="0">
            <a:off x="2253458" y="2640674"/>
            <a:ext cx="6557487" cy="1066692"/>
          </a:xfrm>
          <a:prstGeom prst="rect">
            <a:avLst/>
          </a:prstGeom>
        </p:spPr>
        <p:txBody>
          <a:bodyPr anchor="t" rtlCol="false" tIns="0" lIns="0" bIns="0" rIns="0">
            <a:spAutoFit/>
          </a:bodyPr>
          <a:lstStyle/>
          <a:p>
            <a:pPr algn="l">
              <a:lnSpc>
                <a:spcPts val="7572"/>
              </a:lnSpc>
            </a:pPr>
            <a:r>
              <a:rPr lang="en-US" sz="7498">
                <a:solidFill>
                  <a:srgbClr val="FFFFFF"/>
                </a:solidFill>
                <a:latin typeface="Magz"/>
                <a:ea typeface="Magz"/>
                <a:cs typeface="Magz"/>
                <a:sym typeface="Magz"/>
              </a:rPr>
              <a:t>EQUIPO:</a:t>
            </a:r>
          </a:p>
        </p:txBody>
      </p:sp>
      <p:sp>
        <p:nvSpPr>
          <p:cNvPr name="TextBox 15" id="15"/>
          <p:cNvSpPr txBox="true"/>
          <p:nvPr/>
        </p:nvSpPr>
        <p:spPr>
          <a:xfrm rot="0">
            <a:off x="2258751" y="4058355"/>
            <a:ext cx="4518684" cy="422998"/>
          </a:xfrm>
          <a:prstGeom prst="rect">
            <a:avLst/>
          </a:prstGeom>
        </p:spPr>
        <p:txBody>
          <a:bodyPr anchor="t" rtlCol="false" tIns="0" lIns="0" bIns="0" rIns="0">
            <a:spAutoFit/>
          </a:bodyPr>
          <a:lstStyle/>
          <a:p>
            <a:pPr algn="l">
              <a:lnSpc>
                <a:spcPts val="2935"/>
              </a:lnSpc>
            </a:pPr>
            <a:r>
              <a:rPr lang="en-US" sz="2096">
                <a:solidFill>
                  <a:srgbClr val="FFFFFF"/>
                </a:solidFill>
                <a:latin typeface="Agrandir"/>
                <a:ea typeface="Agrandir"/>
                <a:cs typeface="Agrandir"/>
                <a:sym typeface="Agrandir"/>
              </a:rPr>
              <a:t>-KEVIN LEANDRO CAMELO SUASTE</a:t>
            </a:r>
          </a:p>
        </p:txBody>
      </p:sp>
      <p:sp>
        <p:nvSpPr>
          <p:cNvPr name="TextBox 16" id="16"/>
          <p:cNvSpPr txBox="true"/>
          <p:nvPr/>
        </p:nvSpPr>
        <p:spPr>
          <a:xfrm rot="0">
            <a:off x="2258751" y="5224750"/>
            <a:ext cx="3529273" cy="422998"/>
          </a:xfrm>
          <a:prstGeom prst="rect">
            <a:avLst/>
          </a:prstGeom>
        </p:spPr>
        <p:txBody>
          <a:bodyPr anchor="t" rtlCol="false" tIns="0" lIns="0" bIns="0" rIns="0">
            <a:spAutoFit/>
          </a:bodyPr>
          <a:lstStyle/>
          <a:p>
            <a:pPr algn="l">
              <a:lnSpc>
                <a:spcPts val="2935"/>
              </a:lnSpc>
            </a:pPr>
            <a:r>
              <a:rPr lang="en-US" sz="2096">
                <a:solidFill>
                  <a:srgbClr val="FFFFFF"/>
                </a:solidFill>
                <a:latin typeface="Agrandir"/>
                <a:ea typeface="Agrandir"/>
                <a:cs typeface="Agrandir"/>
                <a:sym typeface="Agrandir"/>
              </a:rPr>
              <a:t>-ROGER AGUILAR UICAB</a:t>
            </a:r>
          </a:p>
        </p:txBody>
      </p:sp>
      <p:sp>
        <p:nvSpPr>
          <p:cNvPr name="TextBox 17" id="17"/>
          <p:cNvSpPr txBox="true"/>
          <p:nvPr/>
        </p:nvSpPr>
        <p:spPr>
          <a:xfrm rot="0">
            <a:off x="2258751" y="6394856"/>
            <a:ext cx="4786196" cy="422998"/>
          </a:xfrm>
          <a:prstGeom prst="rect">
            <a:avLst/>
          </a:prstGeom>
        </p:spPr>
        <p:txBody>
          <a:bodyPr anchor="t" rtlCol="false" tIns="0" lIns="0" bIns="0" rIns="0">
            <a:spAutoFit/>
          </a:bodyPr>
          <a:lstStyle/>
          <a:p>
            <a:pPr algn="l">
              <a:lnSpc>
                <a:spcPts val="2935"/>
              </a:lnSpc>
            </a:pPr>
            <a:r>
              <a:rPr lang="en-US" sz="2096">
                <a:solidFill>
                  <a:srgbClr val="FFFFFF"/>
                </a:solidFill>
                <a:latin typeface="Agrandir"/>
                <a:ea typeface="Agrandir"/>
                <a:cs typeface="Agrandir"/>
                <a:sym typeface="Agrandir"/>
              </a:rPr>
              <a:t>-MIGUEL ÁNGEL GOMEZ HERGUERA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4327317"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content</a:t>
            </a:r>
          </a:p>
        </p:txBody>
      </p:sp>
      <p:sp>
        <p:nvSpPr>
          <p:cNvPr name="TextBox 5" id="5"/>
          <p:cNvSpPr txBox="true"/>
          <p:nvPr/>
        </p:nvSpPr>
        <p:spPr>
          <a:xfrm rot="0">
            <a:off x="16234639"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others</a:t>
            </a:r>
          </a:p>
        </p:txBody>
      </p:sp>
      <p:sp>
        <p:nvSpPr>
          <p:cNvPr name="TextBox 6" id="6"/>
          <p:cNvSpPr txBox="true"/>
          <p:nvPr/>
        </p:nvSpPr>
        <p:spPr>
          <a:xfrm rot="0">
            <a:off x="111269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Home</a:t>
            </a:r>
          </a:p>
        </p:txBody>
      </p:sp>
      <p:sp>
        <p:nvSpPr>
          <p:cNvPr name="TextBox 7" id="7"/>
          <p:cNvSpPr txBox="true"/>
          <p:nvPr/>
        </p:nvSpPr>
        <p:spPr>
          <a:xfrm rot="0">
            <a:off x="126128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about</a:t>
            </a:r>
          </a:p>
        </p:txBody>
      </p:sp>
      <p:sp>
        <p:nvSpPr>
          <p:cNvPr name="TextBox 8" id="8"/>
          <p:cNvSpPr txBox="true"/>
          <p:nvPr/>
        </p:nvSpPr>
        <p:spPr>
          <a:xfrm rot="0">
            <a:off x="1778427" y="3070146"/>
            <a:ext cx="13693291" cy="2904959"/>
          </a:xfrm>
          <a:prstGeom prst="rect">
            <a:avLst/>
          </a:prstGeom>
        </p:spPr>
        <p:txBody>
          <a:bodyPr anchor="t" rtlCol="false" tIns="0" lIns="0" bIns="0" rIns="0">
            <a:spAutoFit/>
          </a:bodyPr>
          <a:lstStyle/>
          <a:p>
            <a:pPr algn="l">
              <a:lnSpc>
                <a:spcPts val="22580"/>
              </a:lnSpc>
              <a:spcBef>
                <a:spcPct val="0"/>
              </a:spcBef>
            </a:pPr>
            <a:r>
              <a:rPr lang="en-US" sz="16129">
                <a:solidFill>
                  <a:srgbClr val="FFFFFF"/>
                </a:solidFill>
                <a:latin typeface="Magz"/>
                <a:ea typeface="Magz"/>
                <a:cs typeface="Magz"/>
                <a:sym typeface="Magz"/>
              </a:rPr>
              <a:t>THANK YOU</a:t>
            </a:r>
          </a:p>
        </p:txBody>
      </p:sp>
      <p:sp>
        <p:nvSpPr>
          <p:cNvPr name="TextBox 9" id="9"/>
          <p:cNvSpPr txBox="true"/>
          <p:nvPr/>
        </p:nvSpPr>
        <p:spPr>
          <a:xfrm rot="0">
            <a:off x="1710801" y="6120153"/>
            <a:ext cx="10338913" cy="321878"/>
          </a:xfrm>
          <a:prstGeom prst="rect">
            <a:avLst/>
          </a:prstGeom>
        </p:spPr>
        <p:txBody>
          <a:bodyPr anchor="t" rtlCol="false" tIns="0" lIns="0" bIns="0" rIns="0">
            <a:spAutoFit/>
          </a:bodyPr>
          <a:lstStyle/>
          <a:p>
            <a:pPr algn="l">
              <a:lnSpc>
                <a:spcPts val="2211"/>
              </a:lnSpc>
              <a:spcBef>
                <a:spcPct val="0"/>
              </a:spcBef>
            </a:pPr>
            <a:r>
              <a:rPr lang="en-US" sz="1579">
                <a:solidFill>
                  <a:srgbClr val="FFFFFF"/>
                </a:solidFill>
                <a:latin typeface="Agrandir"/>
                <a:ea typeface="Agrandir"/>
                <a:cs typeface="Agrandir"/>
                <a:sym typeface="Agrandir"/>
              </a:rPr>
              <a:t>¿Preguntas?</a:t>
            </a:r>
          </a:p>
        </p:txBody>
      </p:sp>
      <p:grpSp>
        <p:nvGrpSpPr>
          <p:cNvPr name="Group 10" id="10"/>
          <p:cNvGrpSpPr/>
          <p:nvPr/>
        </p:nvGrpSpPr>
        <p:grpSpPr>
          <a:xfrm rot="0">
            <a:off x="1805297" y="8608506"/>
            <a:ext cx="4657518" cy="649794"/>
            <a:chOff x="0" y="0"/>
            <a:chExt cx="1226671" cy="171139"/>
          </a:xfrm>
        </p:grpSpPr>
        <p:sp>
          <p:nvSpPr>
            <p:cNvPr name="Freeform 11" id="11"/>
            <p:cNvSpPr/>
            <p:nvPr/>
          </p:nvSpPr>
          <p:spPr>
            <a:xfrm flipH="false" flipV="false" rot="0">
              <a:off x="0" y="0"/>
              <a:ext cx="1226671" cy="171139"/>
            </a:xfrm>
            <a:custGeom>
              <a:avLst/>
              <a:gdLst/>
              <a:ahLst/>
              <a:cxnLst/>
              <a:rect r="r" b="b" t="t" l="l"/>
              <a:pathLst>
                <a:path h="171139" w="1226671">
                  <a:moveTo>
                    <a:pt x="0" y="0"/>
                  </a:moveTo>
                  <a:lnTo>
                    <a:pt x="1226671" y="0"/>
                  </a:lnTo>
                  <a:lnTo>
                    <a:pt x="1226671" y="171139"/>
                  </a:lnTo>
                  <a:lnTo>
                    <a:pt x="0" y="171139"/>
                  </a:lnTo>
                  <a:close/>
                </a:path>
              </a:pathLst>
            </a:custGeom>
            <a:solidFill>
              <a:srgbClr val="5CE1E6"/>
            </a:solidFill>
          </p:spPr>
        </p:sp>
        <p:sp>
          <p:nvSpPr>
            <p:cNvPr name="TextBox 12" id="12"/>
            <p:cNvSpPr txBox="true"/>
            <p:nvPr/>
          </p:nvSpPr>
          <p:spPr>
            <a:xfrm>
              <a:off x="0" y="-85725"/>
              <a:ext cx="1226671" cy="256864"/>
            </a:xfrm>
            <a:prstGeom prst="rect">
              <a:avLst/>
            </a:prstGeom>
          </p:spPr>
          <p:txBody>
            <a:bodyPr anchor="ctr" rtlCol="false" tIns="50800" lIns="50800" bIns="50800" rIns="50800"/>
            <a:lstStyle/>
            <a:p>
              <a:pPr algn="ctr">
                <a:lnSpc>
                  <a:spcPts val="2239"/>
                </a:lnSpc>
              </a:pPr>
            </a:p>
          </p:txBody>
        </p:sp>
      </p:grpSp>
      <p:sp>
        <p:nvSpPr>
          <p:cNvPr name="TextBox 13" id="13"/>
          <p:cNvSpPr txBox="true"/>
          <p:nvPr/>
        </p:nvSpPr>
        <p:spPr>
          <a:xfrm rot="0">
            <a:off x="1778427" y="8677816"/>
            <a:ext cx="4711257" cy="40634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Agrandir"/>
                <a:ea typeface="Agrandir"/>
                <a:cs typeface="Agrandir"/>
                <a:sym typeface="Agrandir"/>
              </a:rPr>
              <a:t>EQUIPO VUE.JS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Freeform 3" id="3"/>
          <p:cNvSpPr/>
          <p:nvPr/>
        </p:nvSpPr>
        <p:spPr>
          <a:xfrm flipH="false" flipV="false" rot="0">
            <a:off x="1023407" y="818979"/>
            <a:ext cx="594957" cy="327767"/>
          </a:xfrm>
          <a:custGeom>
            <a:avLst/>
            <a:gdLst/>
            <a:ahLst/>
            <a:cxnLst/>
            <a:rect r="r" b="b" t="t" l="l"/>
            <a:pathLst>
              <a:path h="327767" w="594957">
                <a:moveTo>
                  <a:pt x="0" y="0"/>
                </a:moveTo>
                <a:lnTo>
                  <a:pt x="594957" y="0"/>
                </a:lnTo>
                <a:lnTo>
                  <a:pt x="594957" y="327767"/>
                </a:lnTo>
                <a:lnTo>
                  <a:pt x="0" y="3277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884411" y="9258300"/>
            <a:ext cx="914650" cy="523845"/>
          </a:xfrm>
          <a:custGeom>
            <a:avLst/>
            <a:gdLst/>
            <a:ahLst/>
            <a:cxnLst/>
            <a:rect r="r" b="b" t="t" l="l"/>
            <a:pathLst>
              <a:path h="523845" w="914650">
                <a:moveTo>
                  <a:pt x="0" y="0"/>
                </a:moveTo>
                <a:lnTo>
                  <a:pt x="914650" y="0"/>
                </a:lnTo>
                <a:lnTo>
                  <a:pt x="914650" y="523845"/>
                </a:lnTo>
                <a:lnTo>
                  <a:pt x="0" y="5238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0" y="2506752"/>
            <a:ext cx="10205673" cy="6751548"/>
            <a:chOff x="0" y="0"/>
            <a:chExt cx="2687914" cy="1778185"/>
          </a:xfrm>
        </p:grpSpPr>
        <p:sp>
          <p:nvSpPr>
            <p:cNvPr name="Freeform 6" id="6"/>
            <p:cNvSpPr/>
            <p:nvPr/>
          </p:nvSpPr>
          <p:spPr>
            <a:xfrm flipH="false" flipV="false" rot="0">
              <a:off x="0" y="0"/>
              <a:ext cx="2687914" cy="1778185"/>
            </a:xfrm>
            <a:custGeom>
              <a:avLst/>
              <a:gdLst/>
              <a:ahLst/>
              <a:cxnLst/>
              <a:rect r="r" b="b" t="t" l="l"/>
              <a:pathLst>
                <a:path h="1778185" w="2687914">
                  <a:moveTo>
                    <a:pt x="0" y="0"/>
                  </a:moveTo>
                  <a:lnTo>
                    <a:pt x="2687914" y="0"/>
                  </a:lnTo>
                  <a:lnTo>
                    <a:pt x="2687914" y="1778185"/>
                  </a:lnTo>
                  <a:lnTo>
                    <a:pt x="0" y="1778185"/>
                  </a:lnTo>
                  <a:close/>
                </a:path>
              </a:pathLst>
            </a:custGeom>
            <a:solidFill>
              <a:srgbClr val="76F9FE"/>
            </a:solidFill>
          </p:spPr>
        </p:sp>
        <p:sp>
          <p:nvSpPr>
            <p:cNvPr name="TextBox 7" id="7"/>
            <p:cNvSpPr txBox="true"/>
            <p:nvPr/>
          </p:nvSpPr>
          <p:spPr>
            <a:xfrm>
              <a:off x="0" y="-85725"/>
              <a:ext cx="2687914" cy="1863910"/>
            </a:xfrm>
            <a:prstGeom prst="rect">
              <a:avLst/>
            </a:prstGeom>
          </p:spPr>
          <p:txBody>
            <a:bodyPr anchor="ctr" rtlCol="false" tIns="50800" lIns="50800" bIns="50800" rIns="50800"/>
            <a:lstStyle/>
            <a:p>
              <a:pPr algn="ctr">
                <a:lnSpc>
                  <a:spcPts val="2239"/>
                </a:lnSpc>
              </a:pPr>
            </a:p>
          </p:txBody>
        </p:sp>
      </p:grpSp>
      <p:grpSp>
        <p:nvGrpSpPr>
          <p:cNvPr name="Group 8" id="8"/>
          <p:cNvGrpSpPr/>
          <p:nvPr/>
        </p:nvGrpSpPr>
        <p:grpSpPr>
          <a:xfrm rot="0">
            <a:off x="8475022" y="3025698"/>
            <a:ext cx="7759617" cy="3918642"/>
            <a:chOff x="0" y="0"/>
            <a:chExt cx="1574013" cy="794884"/>
          </a:xfrm>
        </p:grpSpPr>
        <p:sp>
          <p:nvSpPr>
            <p:cNvPr name="Freeform 9" id="9"/>
            <p:cNvSpPr/>
            <p:nvPr/>
          </p:nvSpPr>
          <p:spPr>
            <a:xfrm flipH="false" flipV="false" rot="0">
              <a:off x="0" y="0"/>
              <a:ext cx="1574013" cy="794884"/>
            </a:xfrm>
            <a:custGeom>
              <a:avLst/>
              <a:gdLst/>
              <a:ahLst/>
              <a:cxnLst/>
              <a:rect r="r" b="b" t="t" l="l"/>
              <a:pathLst>
                <a:path h="794884" w="1574013">
                  <a:moveTo>
                    <a:pt x="0" y="0"/>
                  </a:moveTo>
                  <a:lnTo>
                    <a:pt x="1574013" y="0"/>
                  </a:lnTo>
                  <a:lnTo>
                    <a:pt x="1574013" y="794884"/>
                  </a:lnTo>
                  <a:lnTo>
                    <a:pt x="0" y="794884"/>
                  </a:lnTo>
                  <a:close/>
                </a:path>
              </a:pathLst>
            </a:custGeom>
            <a:blipFill>
              <a:blip r:embed="rId7"/>
              <a:stretch>
                <a:fillRect l="0" t="-98606" r="0" b="-98606"/>
              </a:stretch>
            </a:blipFill>
            <a:ln cap="sq">
              <a:noFill/>
              <a:prstDash val="solid"/>
              <a:miter/>
            </a:ln>
          </p:spPr>
        </p:sp>
      </p:grpSp>
      <p:sp>
        <p:nvSpPr>
          <p:cNvPr name="TextBox 10" id="10"/>
          <p:cNvSpPr txBox="true"/>
          <p:nvPr/>
        </p:nvSpPr>
        <p:spPr>
          <a:xfrm rot="0">
            <a:off x="14327317"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content</a:t>
            </a:r>
          </a:p>
        </p:txBody>
      </p:sp>
      <p:sp>
        <p:nvSpPr>
          <p:cNvPr name="TextBox 11" id="11"/>
          <p:cNvSpPr txBox="true"/>
          <p:nvPr/>
        </p:nvSpPr>
        <p:spPr>
          <a:xfrm rot="0">
            <a:off x="16234639" y="788616"/>
            <a:ext cx="1564422"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others</a:t>
            </a:r>
          </a:p>
        </p:txBody>
      </p:sp>
      <p:sp>
        <p:nvSpPr>
          <p:cNvPr name="TextBox 12" id="12"/>
          <p:cNvSpPr txBox="true"/>
          <p:nvPr/>
        </p:nvSpPr>
        <p:spPr>
          <a:xfrm rot="0">
            <a:off x="111269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Home</a:t>
            </a:r>
          </a:p>
        </p:txBody>
      </p:sp>
      <p:sp>
        <p:nvSpPr>
          <p:cNvPr name="TextBox 13" id="13"/>
          <p:cNvSpPr txBox="true"/>
          <p:nvPr/>
        </p:nvSpPr>
        <p:spPr>
          <a:xfrm rot="0">
            <a:off x="12612817" y="788616"/>
            <a:ext cx="922798" cy="312854"/>
          </a:xfrm>
          <a:prstGeom prst="rect">
            <a:avLst/>
          </a:prstGeom>
        </p:spPr>
        <p:txBody>
          <a:bodyPr anchor="t" rtlCol="false" tIns="0" lIns="0" bIns="0" rIns="0">
            <a:spAutoFit/>
          </a:bodyPr>
          <a:lstStyle/>
          <a:p>
            <a:pPr algn="l">
              <a:lnSpc>
                <a:spcPts val="2184"/>
              </a:lnSpc>
              <a:spcBef>
                <a:spcPct val="0"/>
              </a:spcBef>
            </a:pPr>
            <a:r>
              <a:rPr lang="en-US" sz="1560">
                <a:solidFill>
                  <a:srgbClr val="FFFFFF"/>
                </a:solidFill>
                <a:latin typeface="Agrandir"/>
                <a:ea typeface="Agrandir"/>
                <a:cs typeface="Agrandir"/>
                <a:sym typeface="Agrandir"/>
              </a:rPr>
              <a:t>about</a:t>
            </a:r>
          </a:p>
        </p:txBody>
      </p:sp>
      <p:sp>
        <p:nvSpPr>
          <p:cNvPr name="TextBox 14" id="14"/>
          <p:cNvSpPr txBox="true"/>
          <p:nvPr/>
        </p:nvSpPr>
        <p:spPr>
          <a:xfrm rot="0">
            <a:off x="616735" y="2351759"/>
            <a:ext cx="9942570" cy="6538941"/>
          </a:xfrm>
          <a:prstGeom prst="rect">
            <a:avLst/>
          </a:prstGeom>
        </p:spPr>
        <p:txBody>
          <a:bodyPr anchor="t" rtlCol="false" tIns="0" lIns="0" bIns="0" rIns="0">
            <a:spAutoFit/>
          </a:bodyPr>
          <a:lstStyle/>
          <a:p>
            <a:pPr algn="l">
              <a:lnSpc>
                <a:spcPts val="16554"/>
              </a:lnSpc>
            </a:pPr>
            <a:r>
              <a:rPr lang="en-US" sz="16390">
                <a:solidFill>
                  <a:srgbClr val="000000"/>
                </a:solidFill>
                <a:latin typeface="Magz"/>
                <a:ea typeface="Magz"/>
                <a:cs typeface="Magz"/>
                <a:sym typeface="Magz"/>
              </a:rPr>
              <a:t>EJEMPLO DE PROGRAMA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TextBox 3" id="3"/>
          <p:cNvSpPr txBox="true"/>
          <p:nvPr/>
        </p:nvSpPr>
        <p:spPr>
          <a:xfrm rot="0">
            <a:off x="5779145" y="1100903"/>
            <a:ext cx="6729710" cy="996950"/>
          </a:xfrm>
          <a:prstGeom prst="rect">
            <a:avLst/>
          </a:prstGeom>
        </p:spPr>
        <p:txBody>
          <a:bodyPr anchor="t" rtlCol="false" tIns="0" lIns="0" bIns="0" rIns="0">
            <a:spAutoFit/>
          </a:bodyPr>
          <a:lstStyle/>
          <a:p>
            <a:pPr algn="ctr">
              <a:lnSpc>
                <a:spcPts val="7000"/>
              </a:lnSpc>
              <a:spcBef>
                <a:spcPct val="0"/>
              </a:spcBef>
            </a:pPr>
            <a:r>
              <a:rPr lang="en-US" sz="5000">
                <a:solidFill>
                  <a:srgbClr val="FFFFFF"/>
                </a:solidFill>
                <a:latin typeface="Agrandir"/>
                <a:ea typeface="Agrandir"/>
                <a:cs typeface="Agrandir"/>
                <a:sym typeface="Agrandir"/>
              </a:rPr>
              <a:t>Instalación del Entorno</a:t>
            </a:r>
          </a:p>
        </p:txBody>
      </p:sp>
      <p:sp>
        <p:nvSpPr>
          <p:cNvPr name="TextBox 4" id="4"/>
          <p:cNvSpPr txBox="true"/>
          <p:nvPr/>
        </p:nvSpPr>
        <p:spPr>
          <a:xfrm rot="0">
            <a:off x="7500119" y="2453453"/>
            <a:ext cx="3287762" cy="600075"/>
          </a:xfrm>
          <a:prstGeom prst="rect">
            <a:avLst/>
          </a:prstGeom>
        </p:spPr>
        <p:txBody>
          <a:bodyPr anchor="t" rtlCol="false" tIns="0" lIns="0" bIns="0" rIns="0">
            <a:spAutoFit/>
          </a:bodyPr>
          <a:lstStyle/>
          <a:p>
            <a:pPr algn="ctr">
              <a:lnSpc>
                <a:spcPts val="4200"/>
              </a:lnSpc>
              <a:spcBef>
                <a:spcPct val="0"/>
              </a:spcBef>
            </a:pPr>
            <a:r>
              <a:rPr lang="en-US" sz="3000">
                <a:solidFill>
                  <a:srgbClr val="539E43"/>
                </a:solidFill>
                <a:latin typeface="Agrandir"/>
                <a:ea typeface="Agrandir"/>
                <a:cs typeface="Agrandir"/>
                <a:sym typeface="Agrandir"/>
              </a:rPr>
              <a:t>Descargar Node.js</a:t>
            </a:r>
          </a:p>
        </p:txBody>
      </p:sp>
      <p:sp>
        <p:nvSpPr>
          <p:cNvPr name="TextBox 5" id="5"/>
          <p:cNvSpPr txBox="true"/>
          <p:nvPr/>
        </p:nvSpPr>
        <p:spPr>
          <a:xfrm rot="0">
            <a:off x="8475315" y="4010025"/>
            <a:ext cx="1337370" cy="1133475"/>
          </a:xfrm>
          <a:prstGeom prst="rect">
            <a:avLst/>
          </a:prstGeom>
        </p:spPr>
        <p:txBody>
          <a:bodyPr anchor="t" rtlCol="false" tIns="0" lIns="0" bIns="0" rIns="0">
            <a:spAutoFit/>
          </a:bodyPr>
          <a:lstStyle/>
          <a:p>
            <a:pPr algn="ctr">
              <a:lnSpc>
                <a:spcPts val="4200"/>
              </a:lnSpc>
              <a:spcBef>
                <a:spcPct val="0"/>
              </a:spcBef>
            </a:pPr>
            <a:r>
              <a:rPr lang="en-US" sz="3000">
                <a:solidFill>
                  <a:srgbClr val="2CB57F"/>
                </a:solidFill>
                <a:latin typeface="Agrandir"/>
                <a:ea typeface="Agrandir"/>
                <a:cs typeface="Agrandir"/>
                <a:sym typeface="Agrandir"/>
              </a:rPr>
              <a:t>node -v</a:t>
            </a:r>
          </a:p>
          <a:p>
            <a:pPr algn="ctr">
              <a:lnSpc>
                <a:spcPts val="4200"/>
              </a:lnSpc>
              <a:spcBef>
                <a:spcPct val="0"/>
              </a:spcBef>
            </a:pPr>
            <a:r>
              <a:rPr lang="en-US" sz="3000">
                <a:solidFill>
                  <a:srgbClr val="2CB57F"/>
                </a:solidFill>
                <a:latin typeface="Agrandir"/>
                <a:ea typeface="Agrandir"/>
                <a:cs typeface="Agrandir"/>
                <a:sym typeface="Agrandir"/>
              </a:rPr>
              <a:t>npm -v</a:t>
            </a:r>
          </a:p>
        </p:txBody>
      </p:sp>
      <p:sp>
        <p:nvSpPr>
          <p:cNvPr name="TextBox 6" id="6"/>
          <p:cNvSpPr txBox="true"/>
          <p:nvPr/>
        </p:nvSpPr>
        <p:spPr>
          <a:xfrm rot="0">
            <a:off x="6127403" y="3231739"/>
            <a:ext cx="6033195" cy="600075"/>
          </a:xfrm>
          <a:prstGeom prst="rect">
            <a:avLst/>
          </a:prstGeom>
        </p:spPr>
        <p:txBody>
          <a:bodyPr anchor="t" rtlCol="false" tIns="0" lIns="0" bIns="0" rIns="0">
            <a:spAutoFit/>
          </a:bodyPr>
          <a:lstStyle/>
          <a:p>
            <a:pPr algn="ctr">
              <a:lnSpc>
                <a:spcPts val="4200"/>
              </a:lnSpc>
              <a:spcBef>
                <a:spcPct val="0"/>
              </a:spcBef>
            </a:pPr>
            <a:r>
              <a:rPr lang="en-US" sz="3000">
                <a:solidFill>
                  <a:srgbClr val="FCF1D8"/>
                </a:solidFill>
                <a:latin typeface="Agrandir"/>
                <a:ea typeface="Agrandir"/>
                <a:cs typeface="Agrandir"/>
                <a:sym typeface="Agrandir"/>
              </a:rPr>
              <a:t>Verificar instalacion en la terminal</a:t>
            </a:r>
          </a:p>
        </p:txBody>
      </p:sp>
      <p:sp>
        <p:nvSpPr>
          <p:cNvPr name="TextBox 7" id="7"/>
          <p:cNvSpPr txBox="true"/>
          <p:nvPr/>
        </p:nvSpPr>
        <p:spPr>
          <a:xfrm rot="0">
            <a:off x="6597179" y="5324475"/>
            <a:ext cx="5093643" cy="600075"/>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Agrandir"/>
                <a:ea typeface="Agrandir"/>
                <a:cs typeface="Agrandir"/>
                <a:sym typeface="Agrandir"/>
              </a:rPr>
              <a:t>Crear el Proyecto con Vue.js</a:t>
            </a:r>
          </a:p>
        </p:txBody>
      </p:sp>
      <p:sp>
        <p:nvSpPr>
          <p:cNvPr name="TextBox 8" id="8"/>
          <p:cNvSpPr txBox="true"/>
          <p:nvPr/>
        </p:nvSpPr>
        <p:spPr>
          <a:xfrm rot="0">
            <a:off x="4439394" y="6105525"/>
            <a:ext cx="9409212" cy="600075"/>
          </a:xfrm>
          <a:prstGeom prst="rect">
            <a:avLst/>
          </a:prstGeom>
        </p:spPr>
        <p:txBody>
          <a:bodyPr anchor="t" rtlCol="false" tIns="0" lIns="0" bIns="0" rIns="0">
            <a:spAutoFit/>
          </a:bodyPr>
          <a:lstStyle/>
          <a:p>
            <a:pPr algn="ctr">
              <a:lnSpc>
                <a:spcPts val="4200"/>
              </a:lnSpc>
              <a:spcBef>
                <a:spcPct val="0"/>
              </a:spcBef>
            </a:pPr>
            <a:r>
              <a:rPr lang="en-US" sz="3000">
                <a:solidFill>
                  <a:srgbClr val="539E43"/>
                </a:solidFill>
                <a:latin typeface="Agrandir"/>
                <a:ea typeface="Agrandir"/>
                <a:cs typeface="Agrandir"/>
                <a:sym typeface="Agrandir"/>
              </a:rPr>
              <a:t>npm create vite@latest wordcounter --template vue</a:t>
            </a:r>
          </a:p>
        </p:txBody>
      </p:sp>
      <p:sp>
        <p:nvSpPr>
          <p:cNvPr name="TextBox 9" id="9"/>
          <p:cNvSpPr txBox="true"/>
          <p:nvPr/>
        </p:nvSpPr>
        <p:spPr>
          <a:xfrm rot="0">
            <a:off x="6905699" y="6886575"/>
            <a:ext cx="4476601" cy="600075"/>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Agrandir"/>
                <a:ea typeface="Agrandir"/>
                <a:cs typeface="Agrandir"/>
                <a:sym typeface="Agrandir"/>
              </a:rPr>
              <a:t>Navegamos a la carpeta </a:t>
            </a:r>
          </a:p>
        </p:txBody>
      </p:sp>
      <p:sp>
        <p:nvSpPr>
          <p:cNvPr name="TextBox 10" id="10"/>
          <p:cNvSpPr txBox="true"/>
          <p:nvPr/>
        </p:nvSpPr>
        <p:spPr>
          <a:xfrm rot="0">
            <a:off x="7693149" y="7667625"/>
            <a:ext cx="2901702" cy="600075"/>
          </a:xfrm>
          <a:prstGeom prst="rect">
            <a:avLst/>
          </a:prstGeom>
        </p:spPr>
        <p:txBody>
          <a:bodyPr anchor="t" rtlCol="false" tIns="0" lIns="0" bIns="0" rIns="0">
            <a:spAutoFit/>
          </a:bodyPr>
          <a:lstStyle/>
          <a:p>
            <a:pPr algn="ctr">
              <a:lnSpc>
                <a:spcPts val="4200"/>
              </a:lnSpc>
              <a:spcBef>
                <a:spcPct val="0"/>
              </a:spcBef>
            </a:pPr>
            <a:r>
              <a:rPr lang="en-US" sz="3000">
                <a:solidFill>
                  <a:srgbClr val="539E43"/>
                </a:solidFill>
                <a:latin typeface="Agrandir"/>
                <a:ea typeface="Agrandir"/>
                <a:cs typeface="Agrandir"/>
                <a:sym typeface="Agrandir"/>
              </a:rPr>
              <a:t>cd wordcounter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32100" t="-40933" r="0" b="-46942"/>
            </a:stretch>
          </a:blipFill>
        </p:spPr>
      </p:sp>
      <p:sp>
        <p:nvSpPr>
          <p:cNvPr name="TextBox 3" id="3"/>
          <p:cNvSpPr txBox="true"/>
          <p:nvPr/>
        </p:nvSpPr>
        <p:spPr>
          <a:xfrm rot="0">
            <a:off x="8201546" y="2424878"/>
            <a:ext cx="1884908" cy="600075"/>
          </a:xfrm>
          <a:prstGeom prst="rect">
            <a:avLst/>
          </a:prstGeom>
        </p:spPr>
        <p:txBody>
          <a:bodyPr anchor="t" rtlCol="false" tIns="0" lIns="0" bIns="0" rIns="0">
            <a:spAutoFit/>
          </a:bodyPr>
          <a:lstStyle/>
          <a:p>
            <a:pPr algn="ctr">
              <a:lnSpc>
                <a:spcPts val="4200"/>
              </a:lnSpc>
              <a:spcBef>
                <a:spcPct val="0"/>
              </a:spcBef>
            </a:pPr>
            <a:r>
              <a:rPr lang="en-US" sz="3000">
                <a:solidFill>
                  <a:srgbClr val="539E43"/>
                </a:solidFill>
                <a:latin typeface="Agrandir"/>
                <a:ea typeface="Agrandir"/>
                <a:cs typeface="Agrandir"/>
                <a:sym typeface="Agrandir"/>
              </a:rPr>
              <a:t>npm install</a:t>
            </a:r>
          </a:p>
        </p:txBody>
      </p:sp>
      <p:sp>
        <p:nvSpPr>
          <p:cNvPr name="TextBox 4" id="4"/>
          <p:cNvSpPr txBox="true"/>
          <p:nvPr/>
        </p:nvSpPr>
        <p:spPr>
          <a:xfrm rot="0">
            <a:off x="5422702" y="1581150"/>
            <a:ext cx="7042547" cy="600075"/>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Agrandir"/>
                <a:ea typeface="Agrandir"/>
                <a:cs typeface="Agrandir"/>
                <a:sym typeface="Agrandir"/>
              </a:rPr>
              <a:t>Instalacion de dependencias necesarias</a:t>
            </a:r>
          </a:p>
        </p:txBody>
      </p:sp>
      <p:sp>
        <p:nvSpPr>
          <p:cNvPr name="TextBox 5" id="5"/>
          <p:cNvSpPr txBox="true"/>
          <p:nvPr/>
        </p:nvSpPr>
        <p:spPr>
          <a:xfrm rot="0">
            <a:off x="8036942" y="4079464"/>
            <a:ext cx="2214116" cy="600075"/>
          </a:xfrm>
          <a:prstGeom prst="rect">
            <a:avLst/>
          </a:prstGeom>
        </p:spPr>
        <p:txBody>
          <a:bodyPr anchor="t" rtlCol="false" tIns="0" lIns="0" bIns="0" rIns="0">
            <a:spAutoFit/>
          </a:bodyPr>
          <a:lstStyle/>
          <a:p>
            <a:pPr algn="ctr">
              <a:lnSpc>
                <a:spcPts val="4200"/>
              </a:lnSpc>
              <a:spcBef>
                <a:spcPct val="0"/>
              </a:spcBef>
            </a:pPr>
            <a:r>
              <a:rPr lang="en-US" sz="3000">
                <a:solidFill>
                  <a:srgbClr val="539E43"/>
                </a:solidFill>
                <a:latin typeface="Agrandir"/>
                <a:ea typeface="Agrandir"/>
                <a:cs typeface="Agrandir"/>
                <a:sym typeface="Agrandir"/>
              </a:rPr>
              <a:t>npm run dev</a:t>
            </a:r>
          </a:p>
        </p:txBody>
      </p:sp>
      <p:sp>
        <p:nvSpPr>
          <p:cNvPr name="TextBox 6" id="6"/>
          <p:cNvSpPr txBox="true"/>
          <p:nvPr/>
        </p:nvSpPr>
        <p:spPr>
          <a:xfrm rot="0">
            <a:off x="6912620" y="3231739"/>
            <a:ext cx="4062710" cy="600075"/>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Agrandir"/>
                <a:ea typeface="Agrandir"/>
                <a:cs typeface="Agrandir"/>
                <a:sym typeface="Agrandir"/>
              </a:rPr>
              <a:t>Ejecución del proyecto</a:t>
            </a:r>
          </a:p>
        </p:txBody>
      </p:sp>
      <p:sp>
        <p:nvSpPr>
          <p:cNvPr name="TextBox 7" id="7"/>
          <p:cNvSpPr txBox="true"/>
          <p:nvPr/>
        </p:nvSpPr>
        <p:spPr>
          <a:xfrm rot="0">
            <a:off x="7701707" y="5698714"/>
            <a:ext cx="2884587" cy="600075"/>
          </a:xfrm>
          <a:prstGeom prst="rect">
            <a:avLst/>
          </a:prstGeom>
        </p:spPr>
        <p:txBody>
          <a:bodyPr anchor="t" rtlCol="false" tIns="0" lIns="0" bIns="0" rIns="0">
            <a:spAutoFit/>
          </a:bodyPr>
          <a:lstStyle/>
          <a:p>
            <a:pPr algn="ctr">
              <a:lnSpc>
                <a:spcPts val="4200"/>
              </a:lnSpc>
              <a:spcBef>
                <a:spcPct val="0"/>
              </a:spcBef>
            </a:pPr>
            <a:r>
              <a:rPr lang="en-US" sz="3000">
                <a:solidFill>
                  <a:srgbClr val="539E43"/>
                </a:solidFill>
                <a:latin typeface="Agrandir"/>
                <a:ea typeface="Agrandir"/>
                <a:cs typeface="Agrandir"/>
                <a:sym typeface="Agrandir"/>
              </a:rPr>
              <a:t>npm install jspdf</a:t>
            </a:r>
          </a:p>
        </p:txBody>
      </p:sp>
      <p:sp>
        <p:nvSpPr>
          <p:cNvPr name="TextBox 8" id="8"/>
          <p:cNvSpPr txBox="true"/>
          <p:nvPr/>
        </p:nvSpPr>
        <p:spPr>
          <a:xfrm rot="0">
            <a:off x="6471196" y="4889089"/>
            <a:ext cx="4945559" cy="600075"/>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Agrandir"/>
                <a:ea typeface="Agrandir"/>
                <a:cs typeface="Agrandir"/>
                <a:sym typeface="Agrandir"/>
              </a:rPr>
              <a:t>instalacion de libreria  jsPDF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DAGkAhMG5R8</dc:identifier>
  <dcterms:modified xsi:type="dcterms:W3CDTF">2011-08-01T06:04:30Z</dcterms:modified>
  <cp:revision>1</cp:revision>
  <dc:title>Blue and Black Geometric Simple Programmer Technology Presentation</dc:title>
</cp:coreProperties>
</file>